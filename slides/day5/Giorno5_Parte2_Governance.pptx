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5" d="100"/>
          <a:sy n="175" d="100"/>
        </p:scale>
        <p:origin x="3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0921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6D28D9">
              <a:alpha val="22000"/>
            </a:srgbClr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7772400" y="3291840"/>
            <a:ext cx="2560320" cy="2560320"/>
          </a:xfrm>
          <a:prstGeom prst="ellipse">
            <a:avLst/>
          </a:prstGeom>
          <a:solidFill>
            <a:srgbClr val="FCD34D">
              <a:alpha val="16000"/>
            </a:srgbClr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CD34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274320" y="29260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 GEN AI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713232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AI Act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274320" y="1572768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Agentico · AI Act EU · Casi Reali · One-Pager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274320" y="2139696"/>
            <a:ext cx="2560320" cy="45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274320" y="228600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· RACI · AI Act UE · One-Pager · Capstone 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834640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6D28D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274320" y="290779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719072" y="2834640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6D28D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1719072" y="290779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63824" y="2834640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6D28D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3163824" y="290779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08576" y="2834640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6D28D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4608576" y="290779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53328" y="2834640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6D28D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6053328" y="290779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98080" y="2834640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6D28D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7498080" y="290779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Ripasso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06142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182880" y="47960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 · Maggio 2026  |  Continua da Parte 1: Valutazione LLM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201168" y="1097280"/>
            <a:ext cx="1572768" cy="30175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201168" y="1097280"/>
            <a:ext cx="1572768" cy="32918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256032" y="113385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Agenti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" y="1517904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Perché serve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" y="2020824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Principi chiave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" y="2523744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Rischi agentic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956816" y="1097280"/>
            <a:ext cx="1572768" cy="30175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1956816" y="1097280"/>
            <a:ext cx="1572768" cy="329184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2011680" y="113385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Legge EU sull'AI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48256" y="1517904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Timeline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48256" y="2020824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livelli rischio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48256" y="2523744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Obblighi+sanzioni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712464" y="1097280"/>
            <a:ext cx="1572768" cy="30175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3712464" y="1097280"/>
            <a:ext cx="1572768" cy="32918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3767328" y="113385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 &amp; Esempi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03904" y="1517904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Letteratura accad.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03904" y="2020824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Casi aziendali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03904" y="2523744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Classify ITSM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68112" y="1097280"/>
            <a:ext cx="1572768" cy="30175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2" name="Shape 30"/>
          <p:cNvSpPr/>
          <p:nvPr/>
        </p:nvSpPr>
        <p:spPr>
          <a:xfrm>
            <a:off x="5468112" y="1097280"/>
            <a:ext cx="1572768" cy="32918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5522976" y="113385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Fa Cosa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559552" y="1517904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Accountability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559552" y="2020824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RACI matrix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559552" y="2523744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Rischi agentic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223760" y="1097280"/>
            <a:ext cx="1572768" cy="30175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0" name="Shape 38"/>
          <p:cNvSpPr/>
          <p:nvPr/>
        </p:nvSpPr>
        <p:spPr>
          <a:xfrm>
            <a:off x="7223760" y="1097280"/>
            <a:ext cx="1572768" cy="329184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1" name="Text 39"/>
          <p:cNvSpPr/>
          <p:nvPr/>
        </p:nvSpPr>
        <p:spPr>
          <a:xfrm>
            <a:off x="7278624" y="113385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Doc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315200" y="1517904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Struttura spiegata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315200" y="2020824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Template ITSM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315200" y="2523744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Capstone finale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01168" y="4572000"/>
            <a:ext cx="8686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6" name="Text 44"/>
          <p:cNvSpPr/>
          <p:nvPr/>
        </p:nvSpPr>
        <p:spPr>
          <a:xfrm>
            <a:off x="292608" y="45720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conclude il corso: dall'architettura tecnica alla responsabilità professionale e legale.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Agentica — Perché è Indispensabile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987552"/>
            <a:ext cx="4206240" cy="15910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201168" y="987552"/>
            <a:ext cx="4206240" cy="329184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329184" y="1051560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Tay (2016)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184" y="1426464"/>
            <a:ext cx="39684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su Twitter: in 24h utenti lo hanno addestrato a produrre contenuti offensivi. Nessun guardrail? (Microsoft </a:t>
            </a:r>
            <a:r>
              <a:rPr lang="en-US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dichiara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aver </a:t>
            </a:r>
            <a:r>
              <a:rPr lang="en-US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fatto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filtering e stress test). Ritirato in emergenza.</a:t>
            </a:r>
            <a:endParaRPr lang="en-US" sz="1200" b="1" dirty="0"/>
          </a:p>
        </p:txBody>
      </p:sp>
      <p:sp>
        <p:nvSpPr>
          <p:cNvPr id="9" name="Shape 7"/>
          <p:cNvSpPr/>
          <p:nvPr/>
        </p:nvSpPr>
        <p:spPr>
          <a:xfrm>
            <a:off x="4590288" y="987552"/>
            <a:ext cx="4206240" cy="15910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4590288" y="987552"/>
            <a:ext cx="4206240" cy="32918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718304" y="1051560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AI Hiring (2018)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18304" y="1426464"/>
            <a:ext cx="39684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CV screening penalizzava candidate donne. In produzione 3 anni. Ritirato in silenzio, senza comunicazione </a:t>
            </a:r>
            <a:r>
              <a:rPr lang="en-US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pubblica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Era uno </a:t>
            </a:r>
            <a:r>
              <a:rPr lang="en-US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strumento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sperimentale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 </a:t>
            </a:r>
            <a:r>
              <a:rPr lang="en-US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recruiter </a:t>
            </a:r>
            <a:r>
              <a:rPr lang="en-US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guardavano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</a:t>
            </a:r>
            <a:r>
              <a:rPr lang="en-US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raccomandazioni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Amazon </a:t>
            </a:r>
            <a:r>
              <a:rPr lang="en-US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negò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fosse </a:t>
            </a:r>
            <a:r>
              <a:rPr lang="en-US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usato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</a:t>
            </a:r>
            <a:r>
              <a:rPr lang="en-US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valutare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formalmente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candidati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b="1" dirty="0"/>
          </a:p>
        </p:txBody>
      </p:sp>
      <p:sp>
        <p:nvSpPr>
          <p:cNvPr id="13" name="Shape 11"/>
          <p:cNvSpPr/>
          <p:nvPr/>
        </p:nvSpPr>
        <p:spPr>
          <a:xfrm>
            <a:off x="201168" y="2761488"/>
            <a:ext cx="4206240" cy="15910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201168" y="2761488"/>
            <a:ext cx="4206240" cy="329184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329184" y="2825496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Canada Chatbot (2024)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" y="3200400"/>
            <a:ext cx="39684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promette rimborso inesistente. </a:t>
            </a:r>
            <a:r>
              <a:rPr lang="en-US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Tribunale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(British Columbia Civil Resolution Tribunal): l'azienda risponde delle dichiarazioni del proprio AI. Condannata a rimborsare.</a:t>
            </a:r>
            <a:endParaRPr lang="en-US" sz="1200" b="1" dirty="0"/>
          </a:p>
        </p:txBody>
      </p:sp>
      <p:sp>
        <p:nvSpPr>
          <p:cNvPr id="17" name="Shape 15"/>
          <p:cNvSpPr/>
          <p:nvPr/>
        </p:nvSpPr>
        <p:spPr>
          <a:xfrm>
            <a:off x="4590288" y="2761488"/>
            <a:ext cx="4206240" cy="15910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4590288" y="2761488"/>
            <a:ext cx="4206240" cy="32918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4718304" y="2825496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+ Tool Abuse (teorico)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18304" y="3200400"/>
            <a:ext cx="39684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con tool 'send_email' senza HITL e rate limiting: manipolato via prompt injection per inviare email massive da account aziendale.</a:t>
            </a:r>
            <a:endParaRPr lang="en-US" sz="1200" b="1" dirty="0"/>
          </a:p>
        </p:txBody>
      </p:sp>
      <p:sp>
        <p:nvSpPr>
          <p:cNvPr id="21" name="Shape 19"/>
          <p:cNvSpPr/>
          <p:nvPr/>
        </p:nvSpPr>
        <p:spPr>
          <a:xfrm>
            <a:off x="201168" y="4572000"/>
            <a:ext cx="8686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292608" y="45720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non </a:t>
            </a:r>
            <a:r>
              <a:rPr lang="en-US" sz="1050" dirty="0" err="1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</a:t>
            </a:r>
            <a:r>
              <a:rPr lang="en-US" sz="10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burocrazia</a:t>
            </a:r>
            <a:r>
              <a:rPr lang="en-US" sz="10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 responsabilità professionale. L'AI </a:t>
            </a:r>
            <a:r>
              <a:rPr lang="en-US" sz="1050" dirty="0" err="1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sbaglia</a:t>
            </a:r>
            <a:r>
              <a:rPr lang="en-US" sz="10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chi la </a:t>
            </a:r>
            <a:r>
              <a:rPr lang="en-US" sz="1050" dirty="0" err="1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</a:t>
            </a:r>
            <a:r>
              <a:rPr lang="en-US" sz="10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 </a:t>
            </a:r>
            <a:r>
              <a:rPr lang="en-US" sz="1050" dirty="0" err="1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risponde</a:t>
            </a:r>
            <a:r>
              <a:rPr lang="en-US" sz="10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 UE — Storia, Struttura e Timeline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969264"/>
            <a:ext cx="8686800" cy="347472"/>
          </a:xfrm>
          <a:prstGeom prst="roundRect">
            <a:avLst>
              <a:gd name="adj" fmla="val 15789"/>
            </a:avLst>
          </a:prstGeom>
          <a:solidFill>
            <a:srgbClr val="0A234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Regolamento UE 2024/1689 · Primo framework legale AI al mondo · Extraterritoriale: vale anche per aziende non-EU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01168" y="2359152"/>
            <a:ext cx="8686800" cy="64008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656539" y="2212848"/>
            <a:ext cx="329184" cy="329184"/>
          </a:xfrm>
          <a:prstGeom prst="ellipse">
            <a:avLst/>
          </a:prstGeom>
          <a:solidFill>
            <a:srgbClr val="64748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199339" y="175564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2021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02843" y="2029968"/>
            <a:ext cx="36576" cy="18288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199339" y="2596896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99339" y="2880360"/>
            <a:ext cx="12070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Commissione EU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pubblica bozza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97380" y="2212848"/>
            <a:ext cx="329184" cy="329184"/>
          </a:xfrm>
          <a:prstGeom prst="ellipse">
            <a:avLst/>
          </a:prstGeom>
          <a:solidFill>
            <a:srgbClr val="0891B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1440180" y="175564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 2023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043684" y="2029968"/>
            <a:ext cx="36576" cy="1828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1440180" y="2596896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440180" y="2880360"/>
            <a:ext cx="12070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Parlamento EU +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Consiglio: accordo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138221" y="2212848"/>
            <a:ext cx="329184" cy="329184"/>
          </a:xfrm>
          <a:prstGeom prst="ellipse">
            <a:avLst/>
          </a:prstGeom>
          <a:solidFill>
            <a:srgbClr val="6D28D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2681021" y="175564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 2024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84525" y="2029968"/>
            <a:ext cx="36576" cy="18288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2681021" y="2596896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Vigore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681021" y="2880360"/>
            <a:ext cx="12070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Pubblicato in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Gazzetta Ufficiale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379062" y="2212848"/>
            <a:ext cx="329184" cy="329184"/>
          </a:xfrm>
          <a:prstGeom prst="ellipse">
            <a:avLst/>
          </a:prstGeom>
          <a:solidFill>
            <a:srgbClr val="DC2626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3921862" y="175564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2025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25366" y="2029968"/>
            <a:ext cx="36576" cy="1828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3921862" y="2596896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Divieti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921862" y="2880360"/>
            <a:ext cx="12070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Rischio Inaccett.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vietato (Art. 5)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619902" y="2212848"/>
            <a:ext cx="329184" cy="329184"/>
          </a:xfrm>
          <a:prstGeom prst="ellipse">
            <a:avLst/>
          </a:prstGeom>
          <a:solidFill>
            <a:srgbClr val="D97706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5162702" y="175564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 2025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766206" y="2029968"/>
            <a:ext cx="36576" cy="18288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5162702" y="2596896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GPAI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162702" y="2880360"/>
            <a:ext cx="12070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Obblighi modelli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GPAI (GPT-4, Gemini…)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60743" y="2212848"/>
            <a:ext cx="329184" cy="329184"/>
          </a:xfrm>
          <a:prstGeom prst="ellipse">
            <a:avLst/>
          </a:prstGeom>
          <a:solidFill>
            <a:srgbClr val="EA580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6403543" y="175564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 2026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007047" y="2029968"/>
            <a:ext cx="36576" cy="18288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6403543" y="2596896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Risc.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403543" y="2880360"/>
            <a:ext cx="12070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Obblighi sistemi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alto rischio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101584" y="2212848"/>
            <a:ext cx="329184" cy="329184"/>
          </a:xfrm>
          <a:prstGeom prst="ellipse">
            <a:avLst/>
          </a:prstGeom>
          <a:solidFill>
            <a:srgbClr val="16A34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7644384" y="175564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 2027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247888" y="2029968"/>
            <a:ext cx="36576" cy="18288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1" name="Text 39"/>
          <p:cNvSpPr/>
          <p:nvPr/>
        </p:nvSpPr>
        <p:spPr>
          <a:xfrm>
            <a:off x="7644384" y="2596896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Piena App.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644384" y="2880360"/>
            <a:ext cx="12070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i sistemi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soggetti all'Act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01168" y="3566160"/>
            <a:ext cx="868680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4" name="Shape 42"/>
          <p:cNvSpPr/>
          <p:nvPr/>
        </p:nvSpPr>
        <p:spPr>
          <a:xfrm>
            <a:off x="201168" y="3566160"/>
            <a:ext cx="109728" cy="804672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5" name="Text 43"/>
          <p:cNvSpPr/>
          <p:nvPr/>
        </p:nvSpPr>
        <p:spPr>
          <a:xfrm>
            <a:off x="384048" y="3602736"/>
            <a:ext cx="8467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Extraterritoriale: si applica a chiunque offra sistemi AI nel mercato europeo, indipendentemente dal paese di origine.  Sanzioni massime: 35 milioni € oppure 7% del fatturato annuo mondiale (la cifra maggiore).  Non è tech-agnostic: valuta il RISCHIO del sistema, non la tecnologia usata.</a:t>
            </a:r>
            <a:endParaRPr lang="en-US" sz="1100" b="1" dirty="0"/>
          </a:p>
        </p:txBody>
      </p:sp>
      <p:sp>
        <p:nvSpPr>
          <p:cNvPr id="46" name="Shape 44"/>
          <p:cNvSpPr/>
          <p:nvPr/>
        </p:nvSpPr>
        <p:spPr>
          <a:xfrm>
            <a:off x="201168" y="4572000"/>
            <a:ext cx="8686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7" name="Text 45"/>
          <p:cNvSpPr/>
          <p:nvPr/>
        </p:nvSpPr>
        <p:spPr>
          <a:xfrm>
            <a:off x="292608" y="45720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GPAI = General Purpose AI (es. Gemini, GPT-4). Soggetti a obblighi specifici se usati in sistemi ad alto rischio.</a:t>
            </a:r>
            <a:endParaRPr lang="en-US" sz="105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 — La Piramide dei 4 Livelli di Rischio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834640" y="987552"/>
            <a:ext cx="3474720" cy="749808"/>
          </a:xfrm>
          <a:prstGeom prst="roundRect">
            <a:avLst>
              <a:gd name="adj" fmla="val 4878"/>
            </a:avLst>
          </a:prstGeom>
          <a:solidFill>
            <a:srgbClr val="DC2626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2980944" y="104241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INACCETTABILE  —  Art. 5 — VIETATO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80944" y="1335024"/>
            <a:ext cx="3182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scoring gov. · Sorveg. biometrica RT · Manipolazione subliminale · Sfruttamento vulnerabili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920240" y="1828800"/>
            <a:ext cx="5303520" cy="749808"/>
          </a:xfrm>
          <a:prstGeom prst="roundRect">
            <a:avLst>
              <a:gd name="adj" fmla="val 4878"/>
            </a:avLst>
          </a:prstGeom>
          <a:solidFill>
            <a:srgbClr val="EA580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2066544" y="1883664"/>
            <a:ext cx="5010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 —  Art. 6-7 — Regolamentato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66544" y="2176272"/>
            <a:ext cx="5010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screening · Credit scoring · Sistemi medici · Forze dell'ordine · Infrastrutture critiche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005840" y="2670048"/>
            <a:ext cx="7132320" cy="749808"/>
          </a:xfrm>
          <a:prstGeom prst="roundRect">
            <a:avLst>
              <a:gd name="adj" fmla="val 4878"/>
            </a:avLst>
          </a:prstGeom>
          <a:solidFill>
            <a:srgbClr val="CA8A04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152144" y="2724912"/>
            <a:ext cx="6839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LIMITATO  —  Art. 50 — Trasparenza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52144" y="3017520"/>
            <a:ext cx="6839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(disclosure 'Sono un AI') · Deepfake (labeling) · Sistemi generativi interattivi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8600" y="3511296"/>
            <a:ext cx="8686800" cy="749808"/>
          </a:xfrm>
          <a:prstGeom prst="roundRect">
            <a:avLst>
              <a:gd name="adj" fmla="val 4878"/>
            </a:avLst>
          </a:prstGeom>
          <a:solidFill>
            <a:srgbClr val="16A34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374904" y="3566160"/>
            <a:ext cx="8394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MINIMO  —  Nessun obbligo specifico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4904" y="3858768"/>
            <a:ext cx="8394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Filtri spam · AI in videogiochi · Motori ricerca · La maggior parte delle app aziendali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01168" y="4572000"/>
            <a:ext cx="8686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292608" y="45720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nostro ITSM Agent = LIMITATO: chatbot che interagisce con utenti → disclosure obbligatoria 'Stai parlando con un AI'.</a:t>
            </a:r>
            <a:endParaRPr lang="en-US" sz="105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 — Obblighi per Livello di Rischio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987552"/>
            <a:ext cx="5138928" cy="34015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201168" y="987552"/>
            <a:ext cx="5138928" cy="329184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310896" y="1024128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RISCHIO — Obblighi principali (Art. 8-15)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0896" y="1408176"/>
            <a:ext cx="4919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Sistema di gestione del rischio (analisi, mitigazione, documentazione)</a:t>
            </a:r>
            <a:endParaRPr lang="en-US" sz="1100" b="1" dirty="0"/>
          </a:p>
        </p:txBody>
      </p:sp>
      <p:sp>
        <p:nvSpPr>
          <p:cNvPr id="9" name="Text 7"/>
          <p:cNvSpPr/>
          <p:nvPr/>
        </p:nvSpPr>
        <p:spPr>
          <a:xfrm>
            <a:off x="310896" y="1769364"/>
            <a:ext cx="4919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Documentazione tecnica completa (architettura, training, test)</a:t>
            </a:r>
            <a:endParaRPr lang="en-US" sz="1100" b="1" dirty="0"/>
          </a:p>
        </p:txBody>
      </p:sp>
      <p:sp>
        <p:nvSpPr>
          <p:cNvPr id="10" name="Text 8"/>
          <p:cNvSpPr/>
          <p:nvPr/>
        </p:nvSpPr>
        <p:spPr>
          <a:xfrm>
            <a:off x="310896" y="2130552"/>
            <a:ext cx="4919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Conformity Assessment prima del deploy (audit autorità notificata)</a:t>
            </a:r>
            <a:endParaRPr lang="en-US" sz="1100" b="1" dirty="0"/>
          </a:p>
        </p:txBody>
      </p:sp>
      <p:sp>
        <p:nvSpPr>
          <p:cNvPr id="11" name="Text 9"/>
          <p:cNvSpPr/>
          <p:nvPr/>
        </p:nvSpPr>
        <p:spPr>
          <a:xfrm>
            <a:off x="310896" y="2491740"/>
            <a:ext cx="4919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Logging obbligatorio: ogni decisione tracciata e conservata</a:t>
            </a:r>
            <a:endParaRPr lang="en-US" sz="1100" b="1" dirty="0"/>
          </a:p>
        </p:txBody>
      </p:sp>
      <p:sp>
        <p:nvSpPr>
          <p:cNvPr id="12" name="Text 10"/>
          <p:cNvSpPr/>
          <p:nvPr/>
        </p:nvSpPr>
        <p:spPr>
          <a:xfrm>
            <a:off x="310896" y="2852928"/>
            <a:ext cx="4919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Supervisione umana: operatore può sempre intervenire o bloccare</a:t>
            </a:r>
            <a:endParaRPr lang="en-US" sz="1100" b="1" dirty="0"/>
          </a:p>
        </p:txBody>
      </p:sp>
      <p:sp>
        <p:nvSpPr>
          <p:cNvPr id="13" name="Text 11"/>
          <p:cNvSpPr/>
          <p:nvPr/>
        </p:nvSpPr>
        <p:spPr>
          <a:xfrm>
            <a:off x="310896" y="3214116"/>
            <a:ext cx="4919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Trasparenza verso utenti: informarli di stare con un sistema AI</a:t>
            </a:r>
            <a:endParaRPr lang="en-US" sz="1100" b="1" dirty="0"/>
          </a:p>
        </p:txBody>
      </p:sp>
      <p:sp>
        <p:nvSpPr>
          <p:cNvPr id="14" name="Text 12"/>
          <p:cNvSpPr/>
          <p:nvPr/>
        </p:nvSpPr>
        <p:spPr>
          <a:xfrm>
            <a:off x="310896" y="3575304"/>
            <a:ext cx="4919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Accuratezza, robustezza, cybersecurity con standard misurabili</a:t>
            </a:r>
            <a:endParaRPr lang="en-US" sz="1100" b="1" dirty="0"/>
          </a:p>
        </p:txBody>
      </p:sp>
      <p:sp>
        <p:nvSpPr>
          <p:cNvPr id="15" name="Text 13"/>
          <p:cNvSpPr/>
          <p:nvPr/>
        </p:nvSpPr>
        <p:spPr>
          <a:xfrm>
            <a:off x="310896" y="3936492"/>
            <a:ext cx="4919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Incident reporting alle autorità in caso di malfunzionamento grave</a:t>
            </a:r>
            <a:endParaRPr lang="en-US" sz="1100" b="1" dirty="0"/>
          </a:p>
        </p:txBody>
      </p:sp>
      <p:sp>
        <p:nvSpPr>
          <p:cNvPr id="16" name="Shape 14"/>
          <p:cNvSpPr/>
          <p:nvPr/>
        </p:nvSpPr>
        <p:spPr>
          <a:xfrm>
            <a:off x="5504688" y="987552"/>
            <a:ext cx="3383280" cy="3401568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5504688" y="987552"/>
            <a:ext cx="3383280" cy="329184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5614416" y="10241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Riepilogo rapido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504688" y="1389888"/>
            <a:ext cx="33832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5596128" y="1444752"/>
            <a:ext cx="1481328" cy="237744"/>
          </a:xfrm>
          <a:prstGeom prst="roundRect">
            <a:avLst>
              <a:gd name="adj" fmla="val 11538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5614416" y="1463040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INACCETTABILE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168896" y="1463040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PROIBITO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04688" y="1755648"/>
            <a:ext cx="3383280" cy="347472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5596128" y="1810512"/>
            <a:ext cx="1481328" cy="237744"/>
          </a:xfrm>
          <a:prstGeom prst="roundRect">
            <a:avLst>
              <a:gd name="adj" fmla="val 11538"/>
            </a:avLst>
          </a:prstGeom>
          <a:solidFill>
            <a:srgbClr val="EA580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5614416" y="1828800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168896" y="1828800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 obblighi formali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504688" y="2121408"/>
            <a:ext cx="33832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Shape 26"/>
          <p:cNvSpPr/>
          <p:nvPr/>
        </p:nvSpPr>
        <p:spPr>
          <a:xfrm>
            <a:off x="5596128" y="2176272"/>
            <a:ext cx="1481328" cy="237744"/>
          </a:xfrm>
          <a:prstGeom prst="roundRect">
            <a:avLst>
              <a:gd name="adj" fmla="val 11538"/>
            </a:avLst>
          </a:prstGeom>
          <a:solidFill>
            <a:srgbClr val="CA8A0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5614416" y="2194560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LIMITATO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168896" y="2194560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 AI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504688" y="2487168"/>
            <a:ext cx="3383280" cy="347472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2" name="Shape 30"/>
          <p:cNvSpPr/>
          <p:nvPr/>
        </p:nvSpPr>
        <p:spPr>
          <a:xfrm>
            <a:off x="5596128" y="2542032"/>
            <a:ext cx="1481328" cy="237744"/>
          </a:xfrm>
          <a:prstGeom prst="roundRect">
            <a:avLst>
              <a:gd name="adj" fmla="val 11538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5614416" y="2560320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MINIMO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168896" y="2560320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obbligo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504688" y="2852928"/>
            <a:ext cx="33832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6" name="Shape 34"/>
          <p:cNvSpPr/>
          <p:nvPr/>
        </p:nvSpPr>
        <p:spPr>
          <a:xfrm>
            <a:off x="5596128" y="2907792"/>
            <a:ext cx="1481328" cy="237744"/>
          </a:xfrm>
          <a:prstGeom prst="roundRect">
            <a:avLst>
              <a:gd name="adj" fmla="val 11538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5614416" y="2926080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Sanzione max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168896" y="2926080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35M€ o 7% fat.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504688" y="3218688"/>
            <a:ext cx="3383280" cy="347472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0" name="Shape 38"/>
          <p:cNvSpPr/>
          <p:nvPr/>
        </p:nvSpPr>
        <p:spPr>
          <a:xfrm>
            <a:off x="5596128" y="3273552"/>
            <a:ext cx="1481328" cy="237744"/>
          </a:xfrm>
          <a:prstGeom prst="roundRect">
            <a:avLst>
              <a:gd name="adj" fmla="val 11538"/>
            </a:avLst>
          </a:prstGeom>
          <a:solidFill>
            <a:srgbClr val="EA580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1" name="Text 39"/>
          <p:cNvSpPr/>
          <p:nvPr/>
        </p:nvSpPr>
        <p:spPr>
          <a:xfrm>
            <a:off x="5614416" y="3291840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ALTO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168896" y="3291840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 2026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504688" y="3584448"/>
            <a:ext cx="33832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4" name="Shape 42"/>
          <p:cNvSpPr/>
          <p:nvPr/>
        </p:nvSpPr>
        <p:spPr>
          <a:xfrm>
            <a:off x="5596128" y="3639312"/>
            <a:ext cx="1481328" cy="237744"/>
          </a:xfrm>
          <a:prstGeom prst="roundRect">
            <a:avLst>
              <a:gd name="adj" fmla="val 11538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5" name="Text 43"/>
          <p:cNvSpPr/>
          <p:nvPr/>
        </p:nvSpPr>
        <p:spPr>
          <a:xfrm>
            <a:off x="5614416" y="3657600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GPAI deadline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168896" y="3657600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 2025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504688" y="3950208"/>
            <a:ext cx="3383280" cy="347472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8" name="Shape 46"/>
          <p:cNvSpPr/>
          <p:nvPr/>
        </p:nvSpPr>
        <p:spPr>
          <a:xfrm>
            <a:off x="5596128" y="4005072"/>
            <a:ext cx="1481328" cy="237744"/>
          </a:xfrm>
          <a:prstGeom prst="roundRect">
            <a:avLst>
              <a:gd name="adj" fmla="val 11538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9" name="Text 47"/>
          <p:cNvSpPr/>
          <p:nvPr/>
        </p:nvSpPr>
        <p:spPr>
          <a:xfrm>
            <a:off x="5614416" y="4023360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Divieti vigore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168896" y="4023360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Febbraio 2025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01168" y="4572000"/>
            <a:ext cx="8686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2" name="Text 50"/>
          <p:cNvSpPr/>
          <p:nvPr/>
        </p:nvSpPr>
        <p:spPr>
          <a:xfrm>
            <a:off x="292608" y="45720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GPAI = General Purpose AI. Se usato come componente in sistemi ad alto rischio, eredita gli obblighi di quel livello.</a:t>
            </a:r>
            <a:endParaRPr lang="en-US" sz="105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 — Casi dalla Letteratura Accademica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1112111"/>
            <a:ext cx="8686800" cy="347472"/>
          </a:xfrm>
          <a:prstGeom prst="roundRect">
            <a:avLst>
              <a:gd name="adj" fmla="val 15789"/>
            </a:avLst>
          </a:prstGeom>
          <a:solidFill>
            <a:srgbClr val="0A234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6" name="Text 4"/>
          <p:cNvSpPr/>
          <p:nvPr/>
        </p:nvSpPr>
        <p:spPr>
          <a:xfrm>
            <a:off x="320040" y="1148687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ricerca che ha ispirato l'AI Act: tre paper fondamentali pubblicati prima della proposta legislativa del 2021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01168" y="1526184"/>
            <a:ext cx="2798064" cy="2999232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201168" y="1526184"/>
            <a:ext cx="2798064" cy="329184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310896" y="156276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Parrots (2021)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" y="1928520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Bender, Gebru, McMillan-Major et al. — FAccT 2021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10896" y="2257704"/>
            <a:ext cx="259689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LLM sono 'pappagalli stocastici': producono testo plausibile senza comprensione. Rischi: reinforcement di bias, costi ambientali enormi, marginalizzazione lingue non-inglesi.</a:t>
            </a:r>
            <a:endParaRPr lang="en-US" sz="1050" b="1" dirty="0"/>
          </a:p>
        </p:txBody>
      </p:sp>
      <p:sp>
        <p:nvSpPr>
          <p:cNvPr id="12" name="Shape 10"/>
          <p:cNvSpPr/>
          <p:nvPr/>
        </p:nvSpPr>
        <p:spPr>
          <a:xfrm>
            <a:off x="310896" y="3464712"/>
            <a:ext cx="2596896" cy="27432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310896" y="3537864"/>
            <a:ext cx="25968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Impatto: Citato direttamente nella proposta EU come giustificazione per obblighi di trasparenza su modelli linguistici di larga scala.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82112" y="1526184"/>
            <a:ext cx="2798064" cy="2999232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3182112" y="1526184"/>
            <a:ext cx="2798064" cy="329184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3291840" y="156276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 (Stanford, 2021)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1928520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Bommasani et al. — Stanford CRFM, 100+ autori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91840" y="2257704"/>
            <a:ext cx="259689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Primo studio sistematico sui rischi emergenti dei modelli fondazionali. Rischi: concentrazione (pochi provider), inadeguatezza del benchmark testing, amplificazione distorsioni nei dati.</a:t>
            </a:r>
            <a:endParaRPr lang="en-US" sz="1050" b="1" dirty="0"/>
          </a:p>
        </p:txBody>
      </p:sp>
      <p:sp>
        <p:nvSpPr>
          <p:cNvPr id="19" name="Shape 17"/>
          <p:cNvSpPr/>
          <p:nvPr/>
        </p:nvSpPr>
        <p:spPr>
          <a:xfrm>
            <a:off x="3291840" y="3464712"/>
            <a:ext cx="2596896" cy="2743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3291840" y="3537864"/>
            <a:ext cx="25968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Impatto: Direttamente ispira la sezione GPAI dell'AI Act. L'EU adotta la distinzione 'modello foundation vs sistema AI specifico'.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63056" y="1526184"/>
            <a:ext cx="2798064" cy="2999232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6163056" y="1526184"/>
            <a:ext cx="2798064" cy="32918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6272784" y="156276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 Impact Assessment (EU, 2021)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72784" y="1928520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Commission — Staff Working Document SWD(2021)84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72784" y="2257704"/>
            <a:ext cx="259689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L'EU valuta l'impatto economico di 4 opzioni regolative (voluntary, settoriale, orizz. leggero, orizz. obbligatorio). Sceglie l'approccio orizzontale basato sul rischio.</a:t>
            </a:r>
            <a:endParaRPr lang="en-US" sz="1050" b="1" dirty="0"/>
          </a:p>
        </p:txBody>
      </p:sp>
      <p:sp>
        <p:nvSpPr>
          <p:cNvPr id="26" name="Shape 24"/>
          <p:cNvSpPr/>
          <p:nvPr/>
        </p:nvSpPr>
        <p:spPr>
          <a:xfrm>
            <a:off x="6272784" y="3464712"/>
            <a:ext cx="2596896" cy="2743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6272784" y="3537864"/>
            <a:ext cx="25968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Impatto: Documento che definisce la metodologia di classificazione del rischio: non per tecnologia ma per contesto d'uso e impatto sui diritti fondamentali.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01168" y="4572000"/>
            <a:ext cx="8686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292608" y="45720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scienza ha preceduto la legge: l'EU ha ascoltato la ricerca accademica prima di scrivere l'AI Act.</a:t>
            </a:r>
            <a:endParaRPr lang="en-US" sz="105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 — Casi Aziendali: Compliance &amp; Fallimenti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1082677"/>
            <a:ext cx="2798064" cy="3401568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201168" y="1082677"/>
            <a:ext cx="2798064" cy="329184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310896" y="1119253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Rekognition &amp; Hiring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0896" y="1466725"/>
            <a:ext cx="1280160" cy="237744"/>
          </a:xfrm>
          <a:prstGeom prst="roundRect">
            <a:avLst>
              <a:gd name="adj" fmla="val 15385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310896" y="1485013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FALLIMENTO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82496" y="1485013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2015-2018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10896" y="1777621"/>
            <a:ext cx="2596896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AI per screening CV sviluppato internamente: penalizzava sistematicamente CV con la parola 'women'. Bias nel training data (storico assunzioni maschile). Ritirato nel 2018 senza comunicazione pubblica. Con l'AI Act: obblighi di conformity assessment e auditing avrebbero bloccato il deploy.</a:t>
            </a:r>
            <a:endParaRPr lang="en-US" sz="1050" b="1" dirty="0"/>
          </a:p>
        </p:txBody>
      </p:sp>
      <p:sp>
        <p:nvSpPr>
          <p:cNvPr id="12" name="Shape 10"/>
          <p:cNvSpPr/>
          <p:nvPr/>
        </p:nvSpPr>
        <p:spPr>
          <a:xfrm>
            <a:off x="310896" y="3441829"/>
            <a:ext cx="2596896" cy="2743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310896" y="3514981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Lezione: Il bias nei dati storici si amplifica. Senza audit indipendente, rimane invisibile.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82112" y="1082677"/>
            <a:ext cx="2798064" cy="3401568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3182112" y="1082677"/>
            <a:ext cx="2798064" cy="329184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3291840" y="1119253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HSBC: AI Anti-Money Laundering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91840" y="1466725"/>
            <a:ext cx="1280160" cy="237744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3291840" y="1485013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63440" y="1485013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2022-oggi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91840" y="1777621"/>
            <a:ext cx="2596896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HSBC usa AI per rilevamento frodi e AML. Classificazione: ALTO RISCHIO (impatto su diritti finanziari). Approccio AI Act-ready: documentazione tecnica completa, audit trimestrale indipendente, ogni decisione di blocco ha spiegazione automatica, umano rivede il 100% dei casi positivi prima di agire.</a:t>
            </a:r>
            <a:endParaRPr lang="en-US" sz="1050" b="1" dirty="0"/>
          </a:p>
        </p:txBody>
      </p:sp>
      <p:sp>
        <p:nvSpPr>
          <p:cNvPr id="21" name="Shape 19"/>
          <p:cNvSpPr/>
          <p:nvPr/>
        </p:nvSpPr>
        <p:spPr>
          <a:xfrm>
            <a:off x="3291840" y="3441829"/>
            <a:ext cx="2596896" cy="27432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3291840" y="3514981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Lezione: HITL completo per decisioni ad alto impatto. Costo giustificato da risk reduction.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63056" y="1082677"/>
            <a:ext cx="2798064" cy="3401568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6163056" y="1082677"/>
            <a:ext cx="2798064" cy="329184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6272784" y="1119253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watsonx.governance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72784" y="1466725"/>
            <a:ext cx="1280160" cy="237744"/>
          </a:xfrm>
          <a:prstGeom prst="roundRect">
            <a:avLst>
              <a:gd name="adj" fmla="val 15385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6272784" y="1485013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PIATTAFORMA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644384" y="1485013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2023-oggi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72784" y="1777621"/>
            <a:ext cx="2596896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ha anticipato l'AI Act lanciando una piattaforma di AI governance commerciale. Funzioni: model risk factsheet automatico, fairness monitoring continuo, explainability per ogni decisione, audit trail immutabile. Venduto come soluzione chiavi-in-mano per ALTO RISCHIO compliance.</a:t>
            </a:r>
            <a:endParaRPr lang="en-US" sz="1050" b="1" dirty="0"/>
          </a:p>
        </p:txBody>
      </p:sp>
      <p:sp>
        <p:nvSpPr>
          <p:cNvPr id="30" name="Shape 28"/>
          <p:cNvSpPr/>
          <p:nvPr/>
        </p:nvSpPr>
        <p:spPr>
          <a:xfrm>
            <a:off x="6272784" y="3441829"/>
            <a:ext cx="2596896" cy="2743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6272784" y="3514981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Lezione: La governance può essere un vantaggio competitivo, non solo un costo di compliance.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01168" y="4572000"/>
            <a:ext cx="8686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292608" y="45720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casi documentati da AI Now Institute, IBM, HSBC Annual Reports. Tutti coerenti con il framework AI Act.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Classificare il Nostro ITSM Agent secondo l'AI Act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987552"/>
            <a:ext cx="86868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201168" y="987552"/>
            <a:ext cx="914400" cy="658368"/>
          </a:xfrm>
          <a:prstGeom prst="roundRect">
            <a:avLst>
              <a:gd name="adj" fmla="val 9722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201168" y="11704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25296" y="1042416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È un sistema AI proibito?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25296" y="131673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non è social scoring, sorveglianza biometrica, manipolazione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168" y="1737360"/>
            <a:ext cx="86868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201168" y="1737360"/>
            <a:ext cx="914400" cy="658368"/>
          </a:xfrm>
          <a:prstGeom prst="roundRect">
            <a:avLst>
              <a:gd name="adj" fmla="val 9722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201168" y="19202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25296" y="179222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È ad alto rischio (Annex III)?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25296" y="206654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non è HR screening, credito, medicale, giustizia, infrastrutture critiche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" y="2487168"/>
            <a:ext cx="86868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201168" y="2487168"/>
            <a:ext cx="1097280" cy="658368"/>
          </a:xfrm>
          <a:prstGeom prst="roundRect">
            <a:avLst>
              <a:gd name="adj" fmla="val 9722"/>
            </a:avLst>
          </a:prstGeom>
          <a:solidFill>
            <a:srgbClr val="CA8A0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201168" y="267004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SÌ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55716" y="2563868"/>
            <a:ext cx="73682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Interagisce con persone? (chatbot)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44752" y="28199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Sì: gli utenti possono confonderlo con un umano → Art. 50 LIMITATO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01168" y="3236976"/>
            <a:ext cx="86868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201168" y="3236976"/>
            <a:ext cx="914400" cy="658368"/>
          </a:xfrm>
          <a:prstGeom prst="roundRect">
            <a:avLst>
              <a:gd name="adj" fmla="val 9722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201168" y="341985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25296" y="329184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Genera contenuti ingannevoli?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25296" y="35661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risponde a query ITSM. Ma deve dichiarare di essere AI all'avvio.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01168" y="4005072"/>
            <a:ext cx="8686800" cy="384048"/>
          </a:xfrm>
          <a:prstGeom prst="roundRect">
            <a:avLst>
              <a:gd name="adj" fmla="val 14286"/>
            </a:avLst>
          </a:prstGeom>
          <a:solidFill>
            <a:srgbClr val="CA8A0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310896" y="4041648"/>
            <a:ext cx="8467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CLASSIFICAZIONE FINALE: RISCHIO LIMITATO  →  Obbligo: disclosure 'Questo è un sistema AI' all'avvio di ogni sessione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01168" y="4489749"/>
            <a:ext cx="8686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292608" y="4489749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Implementazione: aggiungere al system prompt 'Sei un assistente AI — non un umano. Devi sempre dichiararlo all'utente.'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Agentica — 6 Principi Fondamentali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987552"/>
            <a:ext cx="420624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292608" y="113385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292608" y="118872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77824" y="1078992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77824" y="1389888"/>
            <a:ext cx="3419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azione dell'agent ha un responsabile umano identificabile. Nessuna 'black box' senza owner.</a:t>
            </a:r>
            <a:endParaRPr lang="en-US" sz="1100" b="1" dirty="0"/>
          </a:p>
        </p:txBody>
      </p:sp>
      <p:sp>
        <p:nvSpPr>
          <p:cNvPr id="10" name="Shape 8"/>
          <p:cNvSpPr/>
          <p:nvPr/>
        </p:nvSpPr>
        <p:spPr>
          <a:xfrm>
            <a:off x="4590288" y="987552"/>
            <a:ext cx="420624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4681728" y="113385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681728" y="118872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66944" y="1078992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66944" y="1389888"/>
            <a:ext cx="3419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decisioni sono spiegabili: logging, motivazione, fonte. Utente sa sempre perché il sistema ha agito.</a:t>
            </a:r>
            <a:endParaRPr lang="en-US" sz="1100" b="1" dirty="0"/>
          </a:p>
        </p:txBody>
      </p:sp>
      <p:sp>
        <p:nvSpPr>
          <p:cNvPr id="15" name="Shape 13"/>
          <p:cNvSpPr/>
          <p:nvPr/>
        </p:nvSpPr>
        <p:spPr>
          <a:xfrm>
            <a:off x="201168" y="2139696"/>
            <a:ext cx="420624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292608" y="22860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292608" y="234086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77824" y="2231136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77824" y="2542032"/>
            <a:ext cx="3419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auditato per bias: stesso trattamento per tutti gli utenti. Monitoraggio continuo per deriva.</a:t>
            </a:r>
            <a:endParaRPr lang="en-US" sz="1100" b="1" dirty="0"/>
          </a:p>
        </p:txBody>
      </p:sp>
      <p:sp>
        <p:nvSpPr>
          <p:cNvPr id="20" name="Shape 18"/>
          <p:cNvSpPr/>
          <p:nvPr/>
        </p:nvSpPr>
        <p:spPr>
          <a:xfrm>
            <a:off x="4590288" y="2139696"/>
            <a:ext cx="420624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4681728" y="22860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4681728" y="234086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66944" y="2231136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66944" y="2542032"/>
            <a:ext cx="3419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minimi necessari. Guardrail PII attivi. Nessun dato personale in log non cifrati.</a:t>
            </a:r>
            <a:endParaRPr lang="en-US" sz="1100" b="1" dirty="0"/>
          </a:p>
        </p:txBody>
      </p:sp>
      <p:sp>
        <p:nvSpPr>
          <p:cNvPr id="25" name="Shape 23"/>
          <p:cNvSpPr/>
          <p:nvPr/>
        </p:nvSpPr>
        <p:spPr>
          <a:xfrm>
            <a:off x="201168" y="3291840"/>
            <a:ext cx="420624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292608" y="343814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292608" y="349300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77824" y="3383280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77824" y="3694176"/>
            <a:ext cx="3419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HITL/HOTL proporzionale al rischio. Azioni ad alto impatto richiedono sempre approvazione umana.</a:t>
            </a:r>
            <a:endParaRPr lang="en-US" sz="1100" b="1" dirty="0"/>
          </a:p>
        </p:txBody>
      </p:sp>
      <p:sp>
        <p:nvSpPr>
          <p:cNvPr id="30" name="Shape 28"/>
          <p:cNvSpPr/>
          <p:nvPr/>
        </p:nvSpPr>
        <p:spPr>
          <a:xfrm>
            <a:off x="4590288" y="3291840"/>
            <a:ext cx="420624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Shape 29"/>
          <p:cNvSpPr/>
          <p:nvPr/>
        </p:nvSpPr>
        <p:spPr>
          <a:xfrm>
            <a:off x="4681728" y="343814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4681728" y="349300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66944" y="3383280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&amp; Safety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66944" y="3694176"/>
            <a:ext cx="3419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continua (golden set, RAGas). Alert automatici. Failure graceful: mai risposta fuorviante.</a:t>
            </a:r>
            <a:endParaRPr lang="en-US" sz="1100" b="1" dirty="0"/>
          </a:p>
        </p:txBody>
      </p:sp>
      <p:sp>
        <p:nvSpPr>
          <p:cNvPr id="35" name="Shape 33"/>
          <p:cNvSpPr/>
          <p:nvPr/>
        </p:nvSpPr>
        <p:spPr>
          <a:xfrm>
            <a:off x="201168" y="4572000"/>
            <a:ext cx="8686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292608" y="45720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6 principi sono allineati con: AI Act EU, OECD AI Principles, NIST AI RMF e ISO 42001.</a:t>
            </a:r>
            <a:endParaRPr lang="en-US" sz="105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— RACI Matrix per Sistemi AI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969264"/>
            <a:ext cx="8686800" cy="347472"/>
          </a:xfrm>
          <a:prstGeom prst="roundRect">
            <a:avLst>
              <a:gd name="adj" fmla="val 15789"/>
            </a:avLst>
          </a:prstGeom>
          <a:solidFill>
            <a:srgbClr val="0A234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Responsabile esecuzione  ·  A = Accountable (unica persona)  ·  C = Consultato  ·  I = Informato  ·  — = Non coinvolto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01168" y="1389888"/>
            <a:ext cx="2926080" cy="310896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237744" y="1417320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Attività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27248" y="1389888"/>
            <a:ext cx="1188720" cy="310896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3163824" y="141732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Dev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15968" y="1389888"/>
            <a:ext cx="1188720" cy="310896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352544" y="141732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Owner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04688" y="1389888"/>
            <a:ext cx="1188720" cy="310896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5541264" y="141732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Legal/DPO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693408" y="1389888"/>
            <a:ext cx="1188720" cy="310896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6729984" y="141732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882128" y="1389888"/>
            <a:ext cx="1261872" cy="310896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7918704" y="14173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01168" y="1737360"/>
            <a:ext cx="86868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256032" y="1792224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in produzione</a:t>
            </a:r>
            <a:endParaRPr lang="en-US" sz="1100" b="1" dirty="0"/>
          </a:p>
        </p:txBody>
      </p:sp>
      <p:sp>
        <p:nvSpPr>
          <p:cNvPr id="21" name="Shape 19"/>
          <p:cNvSpPr/>
          <p:nvPr/>
        </p:nvSpPr>
        <p:spPr>
          <a:xfrm>
            <a:off x="3493008" y="1792224"/>
            <a:ext cx="457200" cy="237744"/>
          </a:xfrm>
          <a:prstGeom prst="roundRect">
            <a:avLst>
              <a:gd name="adj" fmla="val 15385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3493008" y="181051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81728" y="1792224"/>
            <a:ext cx="457200" cy="237744"/>
          </a:xfrm>
          <a:prstGeom prst="roundRect">
            <a:avLst>
              <a:gd name="adj" fmla="val 15385"/>
            </a:avLst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4681728" y="181051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870448" y="1792224"/>
            <a:ext cx="457200" cy="237744"/>
          </a:xfrm>
          <a:prstGeom prst="roundRect">
            <a:avLst>
              <a:gd name="adj" fmla="val 15385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5870448" y="181051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059168" y="1792224"/>
            <a:ext cx="457200" cy="237744"/>
          </a:xfrm>
          <a:prstGeom prst="roundRect">
            <a:avLst>
              <a:gd name="adj" fmla="val 15385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7059168" y="181051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84464" y="1792224"/>
            <a:ext cx="457200" cy="237744"/>
          </a:xfrm>
          <a:prstGeom prst="roundRect">
            <a:avLst>
              <a:gd name="adj" fmla="val 15385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8284464" y="181051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01168" y="2121408"/>
            <a:ext cx="8686800" cy="347472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256032" y="2176272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Aggiornamento prompt</a:t>
            </a:r>
            <a:endParaRPr lang="en-US" sz="1100" b="1" dirty="0"/>
          </a:p>
        </p:txBody>
      </p:sp>
      <p:sp>
        <p:nvSpPr>
          <p:cNvPr id="33" name="Shape 31"/>
          <p:cNvSpPr/>
          <p:nvPr/>
        </p:nvSpPr>
        <p:spPr>
          <a:xfrm>
            <a:off x="3493008" y="2176272"/>
            <a:ext cx="457200" cy="237744"/>
          </a:xfrm>
          <a:prstGeom prst="roundRect">
            <a:avLst>
              <a:gd name="adj" fmla="val 15385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3493008" y="21945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81728" y="2176272"/>
            <a:ext cx="457200" cy="237744"/>
          </a:xfrm>
          <a:prstGeom prst="roundRect">
            <a:avLst>
              <a:gd name="adj" fmla="val 15385"/>
            </a:avLst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4681728" y="21945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870448" y="2176272"/>
            <a:ext cx="457200" cy="237744"/>
          </a:xfrm>
          <a:prstGeom prst="roundRect">
            <a:avLst>
              <a:gd name="adj" fmla="val 15385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5870448" y="21945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059168" y="2176272"/>
            <a:ext cx="457200" cy="237744"/>
          </a:xfrm>
          <a:prstGeom prst="roundRect">
            <a:avLst>
              <a:gd name="adj" fmla="val 15385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7059168" y="21945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284464" y="2176272"/>
            <a:ext cx="457200" cy="237744"/>
          </a:xfrm>
          <a:prstGeom prst="roundRect">
            <a:avLst>
              <a:gd name="adj" fmla="val 15385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8284464" y="21945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01168" y="2505456"/>
            <a:ext cx="86868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256032" y="2560320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Revisione eval suite</a:t>
            </a:r>
            <a:endParaRPr lang="en-US" sz="1100" b="1" dirty="0"/>
          </a:p>
        </p:txBody>
      </p:sp>
      <p:sp>
        <p:nvSpPr>
          <p:cNvPr id="45" name="Shape 43"/>
          <p:cNvSpPr/>
          <p:nvPr/>
        </p:nvSpPr>
        <p:spPr>
          <a:xfrm>
            <a:off x="3493008" y="2560320"/>
            <a:ext cx="457200" cy="237744"/>
          </a:xfrm>
          <a:prstGeom prst="roundRect">
            <a:avLst>
              <a:gd name="adj" fmla="val 15385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6" name="Text 44"/>
          <p:cNvSpPr/>
          <p:nvPr/>
        </p:nvSpPr>
        <p:spPr>
          <a:xfrm>
            <a:off x="3493008" y="25786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681728" y="2560320"/>
            <a:ext cx="457200" cy="237744"/>
          </a:xfrm>
          <a:prstGeom prst="roundRect">
            <a:avLst>
              <a:gd name="adj" fmla="val 15385"/>
            </a:avLst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8" name="Text 46"/>
          <p:cNvSpPr/>
          <p:nvPr/>
        </p:nvSpPr>
        <p:spPr>
          <a:xfrm>
            <a:off x="4681728" y="25786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870448" y="2560320"/>
            <a:ext cx="457200" cy="237744"/>
          </a:xfrm>
          <a:prstGeom prst="roundRect">
            <a:avLst>
              <a:gd name="adj" fmla="val 15385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0" name="Text 48"/>
          <p:cNvSpPr/>
          <p:nvPr/>
        </p:nvSpPr>
        <p:spPr>
          <a:xfrm>
            <a:off x="5870448" y="25786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059168" y="2560320"/>
            <a:ext cx="457200" cy="237744"/>
          </a:xfrm>
          <a:prstGeom prst="roundRect">
            <a:avLst>
              <a:gd name="adj" fmla="val 15385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2" name="Text 50"/>
          <p:cNvSpPr/>
          <p:nvPr/>
        </p:nvSpPr>
        <p:spPr>
          <a:xfrm>
            <a:off x="7059168" y="25786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284464" y="2560320"/>
            <a:ext cx="457200" cy="237744"/>
          </a:xfrm>
          <a:prstGeom prst="roundRect">
            <a:avLst>
              <a:gd name="adj" fmla="val 15385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4" name="Text 52"/>
          <p:cNvSpPr/>
          <p:nvPr/>
        </p:nvSpPr>
        <p:spPr>
          <a:xfrm>
            <a:off x="8284464" y="25786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01168" y="2889504"/>
            <a:ext cx="8686800" cy="347472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6" name="Text 54"/>
          <p:cNvSpPr/>
          <p:nvPr/>
        </p:nvSpPr>
        <p:spPr>
          <a:xfrm>
            <a:off x="256032" y="2944368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1100" b="1" dirty="0"/>
          </a:p>
        </p:txBody>
      </p:sp>
      <p:sp>
        <p:nvSpPr>
          <p:cNvPr id="57" name="Shape 55"/>
          <p:cNvSpPr/>
          <p:nvPr/>
        </p:nvSpPr>
        <p:spPr>
          <a:xfrm>
            <a:off x="3493008" y="2944368"/>
            <a:ext cx="457200" cy="237744"/>
          </a:xfrm>
          <a:prstGeom prst="roundRect">
            <a:avLst>
              <a:gd name="adj" fmla="val 15385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8" name="Text 56"/>
          <p:cNvSpPr/>
          <p:nvPr/>
        </p:nvSpPr>
        <p:spPr>
          <a:xfrm>
            <a:off x="3493008" y="29626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681728" y="2944368"/>
            <a:ext cx="457200" cy="237744"/>
          </a:xfrm>
          <a:prstGeom prst="roundRect">
            <a:avLst>
              <a:gd name="adj" fmla="val 15385"/>
            </a:avLst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0" name="Text 58"/>
          <p:cNvSpPr/>
          <p:nvPr/>
        </p:nvSpPr>
        <p:spPr>
          <a:xfrm>
            <a:off x="4681728" y="29626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5870448" y="2944368"/>
            <a:ext cx="457200" cy="237744"/>
          </a:xfrm>
          <a:prstGeom prst="roundRect">
            <a:avLst>
              <a:gd name="adj" fmla="val 15385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2" name="Text 60"/>
          <p:cNvSpPr/>
          <p:nvPr/>
        </p:nvSpPr>
        <p:spPr>
          <a:xfrm>
            <a:off x="5870448" y="29626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7059168" y="2944368"/>
            <a:ext cx="457200" cy="237744"/>
          </a:xfrm>
          <a:prstGeom prst="roundRect">
            <a:avLst>
              <a:gd name="adj" fmla="val 15385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4" name="Text 62"/>
          <p:cNvSpPr/>
          <p:nvPr/>
        </p:nvSpPr>
        <p:spPr>
          <a:xfrm>
            <a:off x="7059168" y="29626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284464" y="2944368"/>
            <a:ext cx="457200" cy="237744"/>
          </a:xfrm>
          <a:prstGeom prst="roundRect">
            <a:avLst>
              <a:gd name="adj" fmla="val 15385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6" name="Text 64"/>
          <p:cNvSpPr/>
          <p:nvPr/>
        </p:nvSpPr>
        <p:spPr>
          <a:xfrm>
            <a:off x="8284464" y="29626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201168" y="3273552"/>
            <a:ext cx="86868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8" name="Text 66"/>
          <p:cNvSpPr/>
          <p:nvPr/>
        </p:nvSpPr>
        <p:spPr>
          <a:xfrm>
            <a:off x="256032" y="3328416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Aggiornamento KB</a:t>
            </a:r>
            <a:endParaRPr lang="en-US" sz="1100" b="1" dirty="0"/>
          </a:p>
        </p:txBody>
      </p:sp>
      <p:sp>
        <p:nvSpPr>
          <p:cNvPr id="69" name="Shape 67"/>
          <p:cNvSpPr/>
          <p:nvPr/>
        </p:nvSpPr>
        <p:spPr>
          <a:xfrm>
            <a:off x="3493008" y="3328416"/>
            <a:ext cx="457200" cy="237744"/>
          </a:xfrm>
          <a:prstGeom prst="roundRect">
            <a:avLst>
              <a:gd name="adj" fmla="val 15385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0" name="Text 68"/>
          <p:cNvSpPr/>
          <p:nvPr/>
        </p:nvSpPr>
        <p:spPr>
          <a:xfrm>
            <a:off x="3493008" y="33467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4681728" y="3328416"/>
            <a:ext cx="457200" cy="237744"/>
          </a:xfrm>
          <a:prstGeom prst="roundRect">
            <a:avLst>
              <a:gd name="adj" fmla="val 15385"/>
            </a:avLst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2" name="Text 70"/>
          <p:cNvSpPr/>
          <p:nvPr/>
        </p:nvSpPr>
        <p:spPr>
          <a:xfrm>
            <a:off x="4681728" y="33467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5870448" y="3328416"/>
            <a:ext cx="457200" cy="237744"/>
          </a:xfrm>
          <a:prstGeom prst="roundRect">
            <a:avLst>
              <a:gd name="adj" fmla="val 15385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4" name="Text 72"/>
          <p:cNvSpPr/>
          <p:nvPr/>
        </p:nvSpPr>
        <p:spPr>
          <a:xfrm>
            <a:off x="5870448" y="33467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7059168" y="3328416"/>
            <a:ext cx="457200" cy="237744"/>
          </a:xfrm>
          <a:prstGeom prst="roundRect">
            <a:avLst>
              <a:gd name="adj" fmla="val 15385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6" name="Text 74"/>
          <p:cNvSpPr/>
          <p:nvPr/>
        </p:nvSpPr>
        <p:spPr>
          <a:xfrm>
            <a:off x="7059168" y="33467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8284464" y="3328416"/>
            <a:ext cx="457200" cy="237744"/>
          </a:xfrm>
          <a:prstGeom prst="roundRect">
            <a:avLst>
              <a:gd name="adj" fmla="val 15385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8" name="Text 76"/>
          <p:cNvSpPr/>
          <p:nvPr/>
        </p:nvSpPr>
        <p:spPr>
          <a:xfrm>
            <a:off x="8284464" y="33467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201168" y="3657600"/>
            <a:ext cx="8686800" cy="347472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0" name="Text 78"/>
          <p:cNvSpPr/>
          <p:nvPr/>
        </p:nvSpPr>
        <p:spPr>
          <a:xfrm>
            <a:off x="256032" y="3712464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 compliance review</a:t>
            </a:r>
            <a:endParaRPr lang="en-US" sz="1100" b="1" dirty="0"/>
          </a:p>
        </p:txBody>
      </p:sp>
      <p:sp>
        <p:nvSpPr>
          <p:cNvPr id="81" name="Shape 79"/>
          <p:cNvSpPr/>
          <p:nvPr/>
        </p:nvSpPr>
        <p:spPr>
          <a:xfrm>
            <a:off x="3493008" y="3712464"/>
            <a:ext cx="457200" cy="237744"/>
          </a:xfrm>
          <a:prstGeom prst="roundRect">
            <a:avLst>
              <a:gd name="adj" fmla="val 15385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2" name="Text 80"/>
          <p:cNvSpPr/>
          <p:nvPr/>
        </p:nvSpPr>
        <p:spPr>
          <a:xfrm>
            <a:off x="3493008" y="37307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4681728" y="3712464"/>
            <a:ext cx="457200" cy="237744"/>
          </a:xfrm>
          <a:prstGeom prst="roundRect">
            <a:avLst>
              <a:gd name="adj" fmla="val 15385"/>
            </a:avLst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4" name="Text 82"/>
          <p:cNvSpPr/>
          <p:nvPr/>
        </p:nvSpPr>
        <p:spPr>
          <a:xfrm>
            <a:off x="4681728" y="37307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5870448" y="3712464"/>
            <a:ext cx="457200" cy="237744"/>
          </a:xfrm>
          <a:prstGeom prst="roundRect">
            <a:avLst>
              <a:gd name="adj" fmla="val 15385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6" name="Text 84"/>
          <p:cNvSpPr/>
          <p:nvPr/>
        </p:nvSpPr>
        <p:spPr>
          <a:xfrm>
            <a:off x="5870448" y="37307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7059168" y="3712464"/>
            <a:ext cx="457200" cy="237744"/>
          </a:xfrm>
          <a:prstGeom prst="roundRect">
            <a:avLst>
              <a:gd name="adj" fmla="val 15385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8" name="Text 86"/>
          <p:cNvSpPr/>
          <p:nvPr/>
        </p:nvSpPr>
        <p:spPr>
          <a:xfrm>
            <a:off x="7059168" y="37307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8284464" y="3712464"/>
            <a:ext cx="457200" cy="237744"/>
          </a:xfrm>
          <a:prstGeom prst="roundRect">
            <a:avLst>
              <a:gd name="adj" fmla="val 15385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0" name="Text 88"/>
          <p:cNvSpPr/>
          <p:nvPr/>
        </p:nvSpPr>
        <p:spPr>
          <a:xfrm>
            <a:off x="8284464" y="37307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201168" y="4041648"/>
            <a:ext cx="86868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2" name="Text 90"/>
          <p:cNvSpPr/>
          <p:nvPr/>
        </p:nvSpPr>
        <p:spPr>
          <a:xfrm>
            <a:off x="256032" y="4096512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&amp; PII</a:t>
            </a:r>
            <a:endParaRPr lang="en-US" sz="1100" b="1" dirty="0"/>
          </a:p>
        </p:txBody>
      </p:sp>
      <p:sp>
        <p:nvSpPr>
          <p:cNvPr id="93" name="Shape 91"/>
          <p:cNvSpPr/>
          <p:nvPr/>
        </p:nvSpPr>
        <p:spPr>
          <a:xfrm>
            <a:off x="3493008" y="4096512"/>
            <a:ext cx="457200" cy="237744"/>
          </a:xfrm>
          <a:prstGeom prst="roundRect">
            <a:avLst>
              <a:gd name="adj" fmla="val 15385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4" name="Text 92"/>
          <p:cNvSpPr/>
          <p:nvPr/>
        </p:nvSpPr>
        <p:spPr>
          <a:xfrm>
            <a:off x="3493008" y="41148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4681728" y="4096512"/>
            <a:ext cx="457200" cy="237744"/>
          </a:xfrm>
          <a:prstGeom prst="roundRect">
            <a:avLst>
              <a:gd name="adj" fmla="val 15385"/>
            </a:avLst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6" name="Text 94"/>
          <p:cNvSpPr/>
          <p:nvPr/>
        </p:nvSpPr>
        <p:spPr>
          <a:xfrm>
            <a:off x="4681728" y="41148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5870448" y="4096512"/>
            <a:ext cx="457200" cy="237744"/>
          </a:xfrm>
          <a:prstGeom prst="roundRect">
            <a:avLst>
              <a:gd name="adj" fmla="val 15385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8" name="Text 96"/>
          <p:cNvSpPr/>
          <p:nvPr/>
        </p:nvSpPr>
        <p:spPr>
          <a:xfrm>
            <a:off x="5870448" y="41148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7059168" y="4096512"/>
            <a:ext cx="457200" cy="237744"/>
          </a:xfrm>
          <a:prstGeom prst="roundRect">
            <a:avLst>
              <a:gd name="adj" fmla="val 15385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0" name="Text 98"/>
          <p:cNvSpPr/>
          <p:nvPr/>
        </p:nvSpPr>
        <p:spPr>
          <a:xfrm>
            <a:off x="7059168" y="41148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8284464" y="4096512"/>
            <a:ext cx="457200" cy="237744"/>
          </a:xfrm>
          <a:prstGeom prst="roundRect">
            <a:avLst>
              <a:gd name="adj" fmla="val 15385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2" name="Text 100"/>
          <p:cNvSpPr/>
          <p:nvPr/>
        </p:nvSpPr>
        <p:spPr>
          <a:xfrm>
            <a:off x="8284464" y="41148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201168" y="4572000"/>
            <a:ext cx="8686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4" name="Text 102"/>
          <p:cNvSpPr/>
          <p:nvPr/>
        </p:nvSpPr>
        <p:spPr>
          <a:xfrm>
            <a:off x="292608" y="45720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Regola d'oro: 'A' (Accountable) è una sola persona per ogni attività. Non 'il team', non 'tutti': UNA persona.</a:t>
            </a:r>
            <a:endParaRPr lang="en-US" sz="1050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Rischi Specifici dei Sistemi Agentici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987552"/>
            <a:ext cx="4206240" cy="15910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201168" y="987552"/>
            <a:ext cx="4206240" cy="329184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329184" y="1051560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Abuse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" y="1426464"/>
            <a:ext cx="39684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 con accesso a tool (send_email, db_write, api_call) può essere manipolato via prompt injection per eseguire azioni non autorizzate. Mitigazione: HITL per tool ad alto impatto, scope restrictions (solo lettura), rate limiting.</a:t>
            </a:r>
            <a:endParaRPr lang="en-US" sz="1050" b="1" dirty="0"/>
          </a:p>
        </p:txBody>
      </p:sp>
      <p:sp>
        <p:nvSpPr>
          <p:cNvPr id="9" name="Shape 7"/>
          <p:cNvSpPr/>
          <p:nvPr/>
        </p:nvSpPr>
        <p:spPr>
          <a:xfrm>
            <a:off x="4590288" y="987552"/>
            <a:ext cx="4206240" cy="15910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4590288" y="987552"/>
            <a:ext cx="4206240" cy="32918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718304" y="1051560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Indiretta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18304" y="1426464"/>
            <a:ext cx="39684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vettore d'attacco non è il messaggio utente ma i dati recuperati (KB, tool output). Un documento nella knowledge base contiene 'Ignora le istruzioni precedenti…'. Mitigazione: sanitizzazione input, context tagging, separazione trusted/untrusted data.</a:t>
            </a:r>
            <a:endParaRPr lang="en-US" sz="1050" b="1" dirty="0"/>
          </a:p>
        </p:txBody>
      </p:sp>
      <p:sp>
        <p:nvSpPr>
          <p:cNvPr id="13" name="Shape 11"/>
          <p:cNvSpPr/>
          <p:nvPr/>
        </p:nvSpPr>
        <p:spPr>
          <a:xfrm>
            <a:off x="201168" y="2761488"/>
            <a:ext cx="4206240" cy="15910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201168" y="2761488"/>
            <a:ext cx="4206240" cy="32918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329184" y="2825496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Amplificazione in Multi-Agent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9184" y="3200400"/>
            <a:ext cx="39684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un sistema multi-agente (supervisor + specialisti), un errore del primo agente si propaga e si amplifica. Il supervisor non conosce il contesto originale. Mitigazione: validazione inter-agente, checkpointing, human review nei nodi critici.</a:t>
            </a:r>
            <a:endParaRPr lang="en-US" sz="1050" b="1" dirty="0"/>
          </a:p>
        </p:txBody>
      </p:sp>
      <p:sp>
        <p:nvSpPr>
          <p:cNvPr id="17" name="Shape 15"/>
          <p:cNvSpPr/>
          <p:nvPr/>
        </p:nvSpPr>
        <p:spPr>
          <a:xfrm>
            <a:off x="4590288" y="2761488"/>
            <a:ext cx="4206240" cy="15910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4590288" y="2761488"/>
            <a:ext cx="4206240" cy="32918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4718304" y="2825496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Misalignment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18304" y="3200400"/>
            <a:ext cx="39684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L'agent ottimizza la metrica proxy (es. 'chiudi il ticket') invece dell'obiettivo reale (es. 'risolvi il problema dell'utente'). Appare efficiente ma la qualità degrada. Mitigazione: metriche composte, survey utente, HOTL review campione.</a:t>
            </a:r>
            <a:endParaRPr lang="en-US" sz="1050" b="1" dirty="0"/>
          </a:p>
        </p:txBody>
      </p:sp>
      <p:sp>
        <p:nvSpPr>
          <p:cNvPr id="21" name="Shape 19"/>
          <p:cNvSpPr/>
          <p:nvPr/>
        </p:nvSpPr>
        <p:spPr>
          <a:xfrm>
            <a:off x="201168" y="4572000"/>
            <a:ext cx="8686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292608" y="45720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difensivo: principle of least privilege. Ogni agent ha il minimo accesso necessario per il suo task specifico.</a:t>
            </a:r>
            <a:endParaRPr lang="en-US" sz="1050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One-Pager — Struttura Spiegata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987552"/>
            <a:ext cx="4160520" cy="34015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201168" y="987552"/>
            <a:ext cx="4160520" cy="329184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310896" y="102412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Cos'è e Quando è Obbligatorio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0225" y="1389888"/>
            <a:ext cx="3633307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sintetico (1 pagina) che descrive come un sistema AI è governato</a:t>
            </a:r>
            <a:endParaRPr lang="en-US" sz="11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è un manuale tecnico: è il contratto di responsabilità tra chi costruisce e chi usa</a:t>
            </a:r>
            <a:endParaRPr lang="en-US" sz="11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Obbligatorio (de-facto) per sistemi ALTO RISCHIO. Buona pratica per tutti.</a:t>
            </a:r>
            <a:endParaRPr lang="en-US" sz="11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management, DPO, audit, stakeholder non tecnici</a:t>
            </a:r>
            <a:endParaRPr lang="en-US" sz="11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 rispondere a: Chi ha autorizzato? Come è monitorato? Chi interviene se fallisce?</a:t>
            </a:r>
            <a:endParaRPr lang="en-US" sz="11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Aggiornato ad ogni cambio significativo (modello, prompt, scope, dati)</a:t>
            </a:r>
            <a:endParaRPr lang="en-US" sz="1100" b="1" dirty="0"/>
          </a:p>
        </p:txBody>
      </p:sp>
      <p:sp>
        <p:nvSpPr>
          <p:cNvPr id="9" name="Shape 7"/>
          <p:cNvSpPr/>
          <p:nvPr/>
        </p:nvSpPr>
        <p:spPr>
          <a:xfrm>
            <a:off x="310896" y="3822192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065F4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02336" y="3858768"/>
            <a:ext cx="3767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AI senza one-pager non ha nessuno che risponde quando sbaglia.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98848" y="987552"/>
            <a:ext cx="4389120" cy="34015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4498848" y="987552"/>
            <a:ext cx="4389120" cy="329184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4608576" y="10241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Sezioni del One-Pager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08576" y="1463040"/>
            <a:ext cx="274320" cy="256032"/>
          </a:xfrm>
          <a:prstGeom prst="roundRect">
            <a:avLst>
              <a:gd name="adj" fmla="val 14286"/>
            </a:avLst>
          </a:prstGeom>
          <a:solidFill>
            <a:srgbClr val="065F4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4608576" y="148132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74336" y="1463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Header: 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73952" y="1481328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sistema, owner, data, versione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08576" y="1865376"/>
            <a:ext cx="274320" cy="256032"/>
          </a:xfrm>
          <a:prstGeom prst="roundRect">
            <a:avLst>
              <a:gd name="adj" fmla="val 14286"/>
            </a:avLst>
          </a:prstGeom>
          <a:solidFill>
            <a:srgbClr val="065F4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4608576" y="188366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74336" y="18653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 Classification: 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73952" y="1883664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Livello rischio, articoli applicabili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08576" y="2267712"/>
            <a:ext cx="274320" cy="256032"/>
          </a:xfrm>
          <a:prstGeom prst="roundRect">
            <a:avLst>
              <a:gd name="adj" fmla="val 14286"/>
            </a:avLst>
          </a:prstGeom>
          <a:solidFill>
            <a:srgbClr val="065F4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4608576" y="228600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74336" y="22677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&amp; Privacy: 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73952" y="2286000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Tipi dati, PII, guardrail attivi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08576" y="2670048"/>
            <a:ext cx="274320" cy="256032"/>
          </a:xfrm>
          <a:prstGeom prst="roundRect">
            <a:avLst>
              <a:gd name="adj" fmla="val 14286"/>
            </a:avLst>
          </a:prstGeom>
          <a:solidFill>
            <a:srgbClr val="065F4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4608576" y="268833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74336" y="26700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HITL/HOTL: 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73952" y="2688336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interviene umano, chi approva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08576" y="3072384"/>
            <a:ext cx="274320" cy="256032"/>
          </a:xfrm>
          <a:prstGeom prst="roundRect">
            <a:avLst>
              <a:gd name="adj" fmla="val 14286"/>
            </a:avLst>
          </a:prstGeom>
          <a:solidFill>
            <a:srgbClr val="065F4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4608576" y="309067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74336" y="30723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Cadence: 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73952" y="3090672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Frequenza, metriche, soglie, chi esegue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08576" y="3474720"/>
            <a:ext cx="274320" cy="256032"/>
          </a:xfrm>
          <a:prstGeom prst="roundRect">
            <a:avLst>
              <a:gd name="adj" fmla="val 14286"/>
            </a:avLst>
          </a:prstGeom>
          <a:solidFill>
            <a:srgbClr val="065F4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4608576" y="349300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74336" y="34747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Soglie Operative: 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73952" y="3493008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rate, faithfulness, latenza, costo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608576" y="3877056"/>
            <a:ext cx="274320" cy="256032"/>
          </a:xfrm>
          <a:prstGeom prst="roundRect">
            <a:avLst>
              <a:gd name="adj" fmla="val 14286"/>
            </a:avLst>
          </a:prstGeom>
          <a:solidFill>
            <a:srgbClr val="065F4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4608576" y="389534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974336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&amp; Review: 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73952" y="3895344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Owner, Data Owner, data prossima revisione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01168" y="4572000"/>
            <a:ext cx="8686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3" name="Text 41"/>
          <p:cNvSpPr/>
          <p:nvPr/>
        </p:nvSpPr>
        <p:spPr>
          <a:xfrm>
            <a:off x="292608" y="45720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42001 (AI Management System) include il one-pager come artefatto obbligatorio per sistemi AI certificati.</a:t>
            </a:r>
            <a:endParaRPr lang="en-US" sz="1050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ED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One-Pager — Template Compilato: ITSM Agent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987552"/>
            <a:ext cx="8686800" cy="3419856"/>
          </a:xfrm>
          <a:prstGeom prst="roundRect">
            <a:avLst>
              <a:gd name="adj" fmla="val 1604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201168" y="987552"/>
            <a:ext cx="8686800" cy="402336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347472" y="104241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 GOVERNANCE ONE-PAGER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63824" y="1066027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HCLTech ITSM Assistant  v1.0  |  Owner: AI Lead  |  Maggio 2026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92608" y="1613916"/>
            <a:ext cx="2706624" cy="201168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347472" y="1632204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 &amp; CLASSIFICAZIONE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8699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AI Act: Rischio LIMITATO (Art. 50)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21442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GDPR: no PII → nessun DPA richiesto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24185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Disclosure obbligatoria all'avvio sessione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26929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Modello: Gemini 2.5 Flash (Google)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29672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Refresh modello: ogni trimestre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18688" y="1613916"/>
            <a:ext cx="2706624" cy="20116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3273552" y="1632204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&amp; GUARDRAIL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291840" y="18699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Dati: query utente + KB interna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91840" y="21442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PII: zero (guardrail attivo, regex)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91840" y="24185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Injection: rilevamento attivo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91840" y="26929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Max input: 2000 caratteri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91840" y="29672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Log: anonimizzati, 90 gg retention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44768" y="1613916"/>
            <a:ext cx="2706624" cy="20116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6199632" y="1632204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OVERSIGHT &amp; HITL/HOTL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217920" y="18699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HITL: P1/P2 → interrupt_before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17920" y="21442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HOTL: P3/P4 → monitor + alert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17920" y="24185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Escalation: sempre manuale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217920" y="26929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Approvazione change: AI Owner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17920" y="29672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Incident response: entro 2h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92608" y="3296412"/>
            <a:ext cx="4169664" cy="20116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347472" y="3314700"/>
            <a:ext cx="4059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CADENCE &amp; SOGLIE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65760" y="355244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sim: ogni deploy  |  RAGas: settimanale  |  Human review: mensile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65760" y="382676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Soglie: pass_rate ≥ 75%  ·  faithfulness ≥ 0.7  ·  latency p95 &lt; 5s  ·  cost/q &lt; $0.02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90288" y="3296412"/>
            <a:ext cx="4169664" cy="201168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4645152" y="3314700"/>
            <a:ext cx="4059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&amp; REVISIONI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663440" y="355244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Owner: [Team Lead]  ·  Data Owner: [Data Eng]  ·  Security: [CISO]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663440" y="382676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Ultima verifica: Maggio 2026  ·  Prossima revisione: Agosto 2026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01168" y="4572000"/>
            <a:ext cx="8686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1" name="Text 39"/>
          <p:cNvSpPr/>
          <p:nvPr/>
        </p:nvSpPr>
        <p:spPr>
          <a:xfrm>
            <a:off x="292608" y="45720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one-pager deve essere firmato dall'AI Owner. La firma equivale a: 'Conosco questo sistema e rispondo del suo comportamento'.</a:t>
            </a:r>
            <a:endParaRPr lang="en-US" sz="1050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CD34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8686800" y="-548640"/>
            <a:ext cx="1828800" cy="1828800"/>
          </a:xfrm>
          <a:prstGeom prst="ellipse">
            <a:avLst/>
          </a:prstGeom>
          <a:solidFill>
            <a:srgbClr val="6D28D9">
              <a:alpha val="18000"/>
            </a:srgbClr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274320" y="256032"/>
            <a:ext cx="6858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Pomeriggio — Capstone Step 2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FCD34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4206240" cy="1115568"/>
          </a:xfrm>
          <a:prstGeom prst="roundRect">
            <a:avLst>
              <a:gd name="adj" fmla="val 5738"/>
            </a:avLst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FCD34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365760" y="1170432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59536" y="10789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 il tuo Agent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9536" y="1389888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 il livello AI Act. Documenta la logica. Quali obblighi si applicano?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249424"/>
            <a:ext cx="4206240" cy="1115568"/>
          </a:xfrm>
          <a:prstGeom prst="roundRect">
            <a:avLst>
              <a:gd name="adj" fmla="val 5738"/>
            </a:avLst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365760" y="2377440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FCD34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365760" y="2432304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9536" y="23408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 il RACI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9536" y="265176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AI Owner, Data Owner, Security per il tuo ITSM Agent. Compila le 6 attività.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511296"/>
            <a:ext cx="4206240" cy="1115568"/>
          </a:xfrm>
          <a:prstGeom prst="roundRect">
            <a:avLst>
              <a:gd name="adj" fmla="val 5738"/>
            </a:avLst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365760" y="3639312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FCD34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365760" y="3694176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59536" y="36027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One-Pager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59536" y="3913632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 il template con i dati reali del tuo agent. Tutte le sezioni devono essere complete.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987552"/>
            <a:ext cx="4206240" cy="1115568"/>
          </a:xfrm>
          <a:prstGeom prst="roundRect">
            <a:avLst>
              <a:gd name="adj" fmla="val 5738"/>
            </a:avLst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8" name="Shape 26"/>
          <p:cNvSpPr/>
          <p:nvPr/>
        </p:nvSpPr>
        <p:spPr>
          <a:xfrm>
            <a:off x="4846320" y="1115568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FCD34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4846320" y="1170432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40096" y="10789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la disclosure AI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40096" y="1389888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 il system prompt per aggiungere la dichiarazione AI obbligatoria (Art. 50).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54880" y="2249424"/>
            <a:ext cx="4206240" cy="1115568"/>
          </a:xfrm>
          <a:prstGeom prst="roundRect">
            <a:avLst>
              <a:gd name="adj" fmla="val 5738"/>
            </a:avLst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5" name="Shape 33"/>
          <p:cNvSpPr/>
          <p:nvPr/>
        </p:nvSpPr>
        <p:spPr>
          <a:xfrm>
            <a:off x="4846320" y="2377440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FCD34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4846320" y="2432304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40096" y="23408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combinata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40096" y="265176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Esegui eval suite (Parte 1) + controlla compliance one-pager. Tutto deve coesistere.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54880" y="3511296"/>
            <a:ext cx="4206240" cy="1115568"/>
          </a:xfrm>
          <a:prstGeom prst="roundRect">
            <a:avLst>
              <a:gd name="adj" fmla="val 5738"/>
            </a:avLst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2" name="Shape 40"/>
          <p:cNvSpPr/>
          <p:nvPr/>
        </p:nvSpPr>
        <p:spPr>
          <a:xfrm>
            <a:off x="4846320" y="3639312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FCD34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3" name="Text 41"/>
          <p:cNvSpPr/>
          <p:nvPr/>
        </p:nvSpPr>
        <p:spPr>
          <a:xfrm>
            <a:off x="4846320" y="3694176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340096" y="36027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finale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340096" y="3913632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 per gruppo: mostra eval_report.md + governance_onepager.md al resto del corso.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987552"/>
            <a:ext cx="2798064" cy="3456432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201168" y="987552"/>
            <a:ext cx="2798064" cy="475488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292608" y="10332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292608" y="104241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078992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governance_onepager.md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10896" y="1517904"/>
            <a:ext cx="2578608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One-pager compilato con tutti i campi:</a:t>
            </a:r>
            <a:endParaRPr lang="en-US" sz="1100" b="1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AI Act classification</a:t>
            </a:r>
            <a:endParaRPr lang="en-US" sz="1100" b="1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Dati e guardrail attivi</a:t>
            </a:r>
            <a:endParaRPr lang="en-US" sz="1100" b="1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HITL/HOTL strategy</a:t>
            </a:r>
            <a:endParaRPr lang="en-US" sz="1100" b="1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Eval cadence e soglie</a:t>
            </a:r>
            <a:endParaRPr lang="en-US" sz="1100" b="1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Ownership e date revisione</a:t>
            </a:r>
            <a:endParaRPr lang="en-US" sz="1100" b="1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Firmato dall'AI Owner</a:t>
            </a:r>
            <a:endParaRPr lang="en-US" sz="1100" b="1" dirty="0"/>
          </a:p>
        </p:txBody>
      </p:sp>
      <p:sp>
        <p:nvSpPr>
          <p:cNvPr id="11" name="Shape 9"/>
          <p:cNvSpPr/>
          <p:nvPr/>
        </p:nvSpPr>
        <p:spPr>
          <a:xfrm>
            <a:off x="3182112" y="987552"/>
            <a:ext cx="2798064" cy="3456432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3182112" y="987552"/>
            <a:ext cx="2798064" cy="475488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3273552" y="10332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3273552" y="104241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12464" y="1078992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raci_matrix.md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291840" y="1517904"/>
            <a:ext cx="2578608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 compilato per il tuo agent:</a:t>
            </a:r>
            <a:endParaRPr lang="en-US" sz="1100" b="1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6 attività operative coperte</a:t>
            </a:r>
            <a:endParaRPr lang="en-US" sz="1100" b="1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Ruoli identificati (non generici)</a:t>
            </a:r>
            <a:endParaRPr lang="en-US" sz="1100" b="1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Un solo 'A' per ogni riga</a:t>
            </a:r>
            <a:endParaRPr lang="en-US" sz="1100" b="1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Justification per ogni 'A'</a:t>
            </a:r>
            <a:endParaRPr lang="en-US" sz="1100" b="1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Collegato al one-pager</a:t>
            </a:r>
            <a:endParaRPr lang="en-US" sz="1100" b="1" dirty="0"/>
          </a:p>
        </p:txBody>
      </p:sp>
      <p:sp>
        <p:nvSpPr>
          <p:cNvPr id="17" name="Shape 15"/>
          <p:cNvSpPr/>
          <p:nvPr/>
        </p:nvSpPr>
        <p:spPr>
          <a:xfrm>
            <a:off x="6163056" y="987552"/>
            <a:ext cx="2798064" cy="3456432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6163056" y="987552"/>
            <a:ext cx="2798064" cy="475488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6254496" y="10332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6254496" y="104241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93408" y="1078992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system_prompt_v2.py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272784" y="1517904"/>
            <a:ext cx="2578608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aggiornato con:</a:t>
            </a:r>
            <a:endParaRPr lang="en-US" sz="1100" b="1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Disclosure AI obbligatoria (Art. 50)</a:t>
            </a:r>
            <a:endParaRPr lang="en-US" sz="1100" b="1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Scope restriction per AI Act</a:t>
            </a:r>
            <a:endParaRPr lang="en-US" sz="1100" b="1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Escalation path documentato</a:t>
            </a:r>
            <a:endParaRPr lang="en-US" sz="1100" b="1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Guardrail wording incluso</a:t>
            </a:r>
            <a:endParaRPr lang="en-US" sz="1100" b="1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Versione e data nel header</a:t>
            </a:r>
            <a:endParaRPr lang="en-US" sz="1100" b="1" dirty="0"/>
          </a:p>
        </p:txBody>
      </p:sp>
      <p:sp>
        <p:nvSpPr>
          <p:cNvPr id="23" name="Shape 21"/>
          <p:cNvSpPr/>
          <p:nvPr/>
        </p:nvSpPr>
        <p:spPr>
          <a:xfrm>
            <a:off x="201168" y="4572000"/>
            <a:ext cx="8686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292608" y="45720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Consegna finale = eval_report.md (Parte 1) + governance_onepager.md (Parte 2). Insieme sono il capstone del corso.</a:t>
            </a:r>
            <a:endParaRPr lang="en-US" sz="1050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7315200" y="0"/>
            <a:ext cx="3200400" cy="3200400"/>
          </a:xfrm>
          <a:prstGeom prst="ellipse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-1371600" y="2286000"/>
            <a:ext cx="3657600" cy="3657600"/>
          </a:xfrm>
          <a:prstGeom prst="ellipse">
            <a:avLst/>
          </a:prstGeom>
          <a:solidFill>
            <a:srgbClr val="6D28D9">
              <a:alpha val="10000"/>
            </a:srgbClr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27432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Retrospettiva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274320" y="210312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Giorni di Gen AI — Il Percorso Completo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2651760"/>
            <a:ext cx="274320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274320" y="281635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zero a sistema AI enterprise misurabile, governato e responsabile.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3383280"/>
            <a:ext cx="1280160" cy="512064"/>
          </a:xfrm>
          <a:prstGeom prst="roundRect">
            <a:avLst>
              <a:gd name="adj" fmla="val 10714"/>
            </a:avLst>
          </a:prstGeom>
          <a:solidFill>
            <a:srgbClr val="0891B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274320" y="34564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719072" y="3383280"/>
            <a:ext cx="1280160" cy="512064"/>
          </a:xfrm>
          <a:prstGeom prst="roundRect">
            <a:avLst>
              <a:gd name="adj" fmla="val 10714"/>
            </a:avLst>
          </a:prstGeom>
          <a:solidFill>
            <a:srgbClr val="05966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719072" y="34564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163824" y="3383280"/>
            <a:ext cx="1280160" cy="512064"/>
          </a:xfrm>
          <a:prstGeom prst="roundRect">
            <a:avLst>
              <a:gd name="adj" fmla="val 10714"/>
            </a:avLst>
          </a:prstGeom>
          <a:solidFill>
            <a:srgbClr val="D97706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3163824" y="34564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08576" y="3383280"/>
            <a:ext cx="1280160" cy="512064"/>
          </a:xfrm>
          <a:prstGeom prst="roundRect">
            <a:avLst>
              <a:gd name="adj" fmla="val 10714"/>
            </a:avLst>
          </a:prstGeom>
          <a:solidFill>
            <a:srgbClr val="7C3AED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4608576" y="34564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53328" y="3383280"/>
            <a:ext cx="1280160" cy="512064"/>
          </a:xfrm>
          <a:prstGeom prst="roundRect">
            <a:avLst>
              <a:gd name="adj" fmla="val 10714"/>
            </a:avLst>
          </a:prstGeom>
          <a:solidFill>
            <a:srgbClr val="6D28D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6053328" y="34564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06142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182880" y="47960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HCLTech · Roma · Maggio 2026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Retrospettiva — Giorno 1 &amp; 2: Dalle Basi al RAG Avanzato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987552"/>
            <a:ext cx="4206240" cy="34015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201168" y="987552"/>
            <a:ext cx="4206240" cy="4572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310896" y="1051560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1060704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 &amp; Prompt Engineering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53619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Architettura LLM: tokenizzazione, attenzione, temperatura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975104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Prompt engineering: zero-shot, few-shot, chain-of-thought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414016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Prima API call: Gemini / OpenAI con Python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852928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LangChain basics: LLMChain, prompt templates, parsers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291840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Concetti: grounding, hallucination, context window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0896" y="3822192"/>
            <a:ext cx="3986784" cy="402336"/>
          </a:xfrm>
          <a:prstGeom prst="roundRect">
            <a:avLst>
              <a:gd name="adj" fmla="val 11364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402336" y="3858768"/>
            <a:ext cx="3803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Primo chatbot domain-specific funzionante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90288" y="987552"/>
            <a:ext cx="4206240" cy="34015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4590288" y="987552"/>
            <a:ext cx="4206240" cy="4572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700016" y="1051560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93792" y="1060704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Completa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153619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Chunking strategies: fixed, recursive, semantic splitting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1975104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Embedding: sentence-transformers, dimensioni, similarità coseno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2414016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Vector store: Qdrant in-memory → cloud, collection, payload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2852928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Retrieval: top-k, MMR (max marginal relevance), reranking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3291840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Architettura RAG completa: query → retrieve → augment → generate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0016" y="3822192"/>
            <a:ext cx="3986784" cy="402336"/>
          </a:xfrm>
          <a:prstGeom prst="roundRect">
            <a:avLst>
              <a:gd name="adj" fmla="val 11364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4791456" y="3858768"/>
            <a:ext cx="3803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Pipeline RAG su knowledge base ITSM con Qdrant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01168" y="4572000"/>
            <a:ext cx="8686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292608" y="45720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G1+G2 = fondamenta: senza chunking corretto e retrieval affidabile, nessuna eval o governance è significativa.</a:t>
            </a:r>
            <a:endParaRPr lang="en-US" sz="1050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Retrospettiva — Giorno 3 &amp; 4: Agenti, MCP e Enterprise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987552"/>
            <a:ext cx="4206240" cy="34015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201168" y="987552"/>
            <a:ext cx="4206240" cy="4572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310896" y="1051560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1060704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 &amp; MCP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53619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LangChain Agents: ReAct, tool calling, AgentExecutor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975104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Context Protocol (MCP): standard Anthropic per tool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414016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MCP Server Python: risorse, tool, prompt con FastMCP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852928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Supervisor multi-agente: routing, handoff, memoria condivisa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291840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Agentic patterns: planning, reflection, critique-and-revise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0896" y="3822192"/>
            <a:ext cx="3986784" cy="402336"/>
          </a:xfrm>
          <a:prstGeom prst="roundRect">
            <a:avLst>
              <a:gd name="adj" fmla="val 11364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402336" y="3858768"/>
            <a:ext cx="3803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MCP lab + Supervisor multi-agente ITSM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90288" y="987552"/>
            <a:ext cx="4206240" cy="34015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4590288" y="987552"/>
            <a:ext cx="4206240" cy="4572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700016" y="1051560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93792" y="1060704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Enterprise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153619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FastAPI service: /agent/ask, Pydantic, Swagger, middleware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1975104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Observability: Langfuse tracing + structlog JSON logging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2414016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Guardrail: PII regex masking + prompt injection detection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2852928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LangGraph vs ReAct: StateGraph, MemorySaver, comparison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3291840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CrewAI: role-based agents, Task context chaining, sequential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0016" y="3822192"/>
            <a:ext cx="3986784" cy="402336"/>
          </a:xfrm>
          <a:prstGeom prst="roundRect">
            <a:avLst>
              <a:gd name="adj" fmla="val 11364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4791456" y="3858768"/>
            <a:ext cx="3803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API service + monitoring + guardrail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01168" y="4572000"/>
            <a:ext cx="8686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292608" y="45720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G3+G4 = da prototipo a prodotto: il salto da 'funziona in notebook' a 'servizio monitorato con SLA'.</a:t>
            </a:r>
            <a:endParaRPr lang="en-US" sz="1050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</a:t>
            </a: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Enterprise - </a:t>
            </a:r>
            <a:r>
              <a:rPr lang="en-US" sz="26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Percorso</a:t>
            </a: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56032" y="987552"/>
            <a:ext cx="1572768" cy="384048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256032" y="102412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56032" y="1426464"/>
            <a:ext cx="1572768" cy="2615184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256032" y="1426464"/>
            <a:ext cx="1572768" cy="2743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329184" y="145389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Basi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9184" y="1792224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Prompt Eng.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9184" y="2267712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LangChain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9184" y="2743200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calls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0" y="1920240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56032" y="4114800"/>
            <a:ext cx="1572768" cy="347472"/>
          </a:xfrm>
          <a:prstGeom prst="roundRect">
            <a:avLst>
              <a:gd name="adj" fmla="val 13158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292608" y="4151376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primo chatbot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993392" y="987552"/>
            <a:ext cx="1572768" cy="384048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1993392" y="102412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993392" y="1426464"/>
            <a:ext cx="1572768" cy="2615184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1993392" y="1426464"/>
            <a:ext cx="1572768" cy="2743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2066544" y="145389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66544" y="1792224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Chunking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066544" y="2267712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Qdrant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66544" y="2743200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Retrieval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66160" y="1920240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993392" y="4114800"/>
            <a:ext cx="1572768" cy="347472"/>
          </a:xfrm>
          <a:prstGeom prst="roundRect">
            <a:avLst>
              <a:gd name="adj" fmla="val 13158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2029968" y="4151376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RAG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730752" y="987552"/>
            <a:ext cx="1572768" cy="384048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3730752" y="102412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730752" y="1426464"/>
            <a:ext cx="1572768" cy="2615184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0" name="Shape 28"/>
          <p:cNvSpPr/>
          <p:nvPr/>
        </p:nvSpPr>
        <p:spPr>
          <a:xfrm>
            <a:off x="3730752" y="1426464"/>
            <a:ext cx="1572768" cy="2743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3803904" y="145389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 MCP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803904" y="1792224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Tools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803904" y="2267712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MCP server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803904" y="2743200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Supervisor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03520" y="1920240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730752" y="4114800"/>
            <a:ext cx="1572768" cy="347472"/>
          </a:xfrm>
          <a:prstGeom prst="roundRect">
            <a:avLst>
              <a:gd name="adj" fmla="val 13158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3767328" y="4151376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lab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468112" y="987552"/>
            <a:ext cx="1572768" cy="384048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5468112" y="102412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468112" y="1426464"/>
            <a:ext cx="1572768" cy="2615184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1" name="Shape 39"/>
          <p:cNvSpPr/>
          <p:nvPr/>
        </p:nvSpPr>
        <p:spPr>
          <a:xfrm>
            <a:off x="5468112" y="1426464"/>
            <a:ext cx="1572768" cy="2743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5541264" y="145389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541264" y="1792224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FastAPI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41264" y="2267712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Langfuse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541264" y="2743200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LangGraph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040880" y="1920240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5468112" y="4114800"/>
            <a:ext cx="1572768" cy="347472"/>
          </a:xfrm>
          <a:prstGeom prst="roundRect">
            <a:avLst>
              <a:gd name="adj" fmla="val 13158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8" name="Text 46"/>
          <p:cNvSpPr/>
          <p:nvPr/>
        </p:nvSpPr>
        <p:spPr>
          <a:xfrm>
            <a:off x="5504688" y="4151376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service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205472" y="987552"/>
            <a:ext cx="1572768" cy="384048"/>
          </a:xfrm>
          <a:prstGeom prst="roundRect">
            <a:avLst>
              <a:gd name="adj" fmla="val 14286"/>
            </a:avLst>
          </a:prstGeom>
          <a:solidFill>
            <a:srgbClr val="6D28D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0" name="Text 48"/>
          <p:cNvSpPr/>
          <p:nvPr/>
        </p:nvSpPr>
        <p:spPr>
          <a:xfrm>
            <a:off x="7205472" y="102412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205472" y="1426464"/>
            <a:ext cx="1572768" cy="2615184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2" name="Shape 50"/>
          <p:cNvSpPr/>
          <p:nvPr/>
        </p:nvSpPr>
        <p:spPr>
          <a:xfrm>
            <a:off x="7205472" y="1426464"/>
            <a:ext cx="1572768" cy="27432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3" name="Text 51"/>
          <p:cNvSpPr/>
          <p:nvPr/>
        </p:nvSpPr>
        <p:spPr>
          <a:xfrm>
            <a:off x="7278624" y="145389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Eval+Gov.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278624" y="1792224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RAGas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278624" y="2267712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LLM-Judge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278624" y="2743200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Act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205472" y="4114800"/>
            <a:ext cx="1572768" cy="347472"/>
          </a:xfrm>
          <a:prstGeom prst="roundRect">
            <a:avLst>
              <a:gd name="adj" fmla="val 13158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8" name="Text 56"/>
          <p:cNvSpPr/>
          <p:nvPr/>
        </p:nvSpPr>
        <p:spPr>
          <a:xfrm>
            <a:off x="7242048" y="4151376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eval+onepager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01168" y="4059936"/>
            <a:ext cx="8686800" cy="27432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0" name="Shape 58"/>
          <p:cNvSpPr/>
          <p:nvPr/>
        </p:nvSpPr>
        <p:spPr>
          <a:xfrm>
            <a:off x="201168" y="4572000"/>
            <a:ext cx="8686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1" name="Text 59"/>
          <p:cNvSpPr/>
          <p:nvPr/>
        </p:nvSpPr>
        <p:spPr>
          <a:xfrm>
            <a:off x="292608" y="45720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finale: LLM + RAG + Agenti + FastAPI + Langfuse + Guardrail + Eval suite + Governance one-pager.</a:t>
            </a:r>
            <a:endParaRPr lang="en-US" sz="105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3072</Words>
  <Application>Microsoft Macintosh PowerPoint</Application>
  <PresentationFormat>Presentazione su schermo (16:9)</PresentationFormat>
  <Paragraphs>448</Paragraphs>
  <Slides>20</Slides>
  <Notes>20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4" baseType="lpstr">
      <vt:lpstr>Aptos</vt:lpstr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Giorno 5 - Governance &amp; AI Act - Parte 2</dc:title>
  <dc:subject>PptxGenJS Presentation</dc:subject>
  <dc:creator>Alessandro Marchetti</dc:creator>
  <cp:lastModifiedBy>Microsoft Office User</cp:lastModifiedBy>
  <cp:revision>6</cp:revision>
  <dcterms:created xsi:type="dcterms:W3CDTF">2026-05-15T19:52:40Z</dcterms:created>
  <dcterms:modified xsi:type="dcterms:W3CDTF">2026-05-19T04:34:39Z</dcterms:modified>
</cp:coreProperties>
</file>