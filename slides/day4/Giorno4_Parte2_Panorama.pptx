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42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D97706">
              <a:alpha val="16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292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</a:t>
            </a:r>
            <a:r>
              <a:rPr lang="en-US" sz="11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Landscape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di Framework, Piattaforme e Prodotti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2121408"/>
            <a:ext cx="256032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Pro, contro, casi d'uso e come scegliere — aggiornato 2025/2026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163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74320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8163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011680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8163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49040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28163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0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281635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23760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06142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82880" y="47960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 · Maggio 2026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1572768" cy="347472"/>
          </a:xfrm>
          <a:prstGeom prst="rect">
            <a:avLst/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46888" y="13807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01168" y="1755648"/>
            <a:ext cx="54864" cy="5303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9184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AI Agent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01168" y="2350008"/>
            <a:ext cx="54864" cy="5303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9184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degli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56816" y="1325880"/>
            <a:ext cx="1572768" cy="347472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002536" y="13807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OSS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56816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1956816" y="175564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084832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LlamaIndex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56816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956816" y="235000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084832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AutoGen, CrewAI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56816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956816" y="2944368"/>
            <a:ext cx="54864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084832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Kernel, SDK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12464" y="1325880"/>
            <a:ext cx="1572768" cy="347472"/>
          </a:xfrm>
          <a:prstGeom prst="rect">
            <a:avLst/>
          </a:prstGeom>
          <a:solidFill>
            <a:srgbClr val="D9770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758184" y="13807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12464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3712464" y="175564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840480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12464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3712464" y="235000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840480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12464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3712464" y="2944368"/>
            <a:ext cx="54864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840480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AI, Azure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68112" y="1325880"/>
            <a:ext cx="1572768" cy="347472"/>
          </a:xfrm>
          <a:prstGeom prst="rect">
            <a:avLst/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513832" y="13807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68112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5468112" y="175564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596128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table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68112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5468112" y="235000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596128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table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68112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5468112" y="2944368"/>
            <a:ext cx="54864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596128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23760" y="1325880"/>
            <a:ext cx="1572768" cy="347472"/>
          </a:xfrm>
          <a:prstGeom prst="rect">
            <a:avLst/>
          </a:prstGeom>
          <a:solidFill>
            <a:srgbClr val="92400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5" name="Text 53"/>
          <p:cNvSpPr/>
          <p:nvPr/>
        </p:nvSpPr>
        <p:spPr>
          <a:xfrm>
            <a:off x="7269480" y="13807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+ Lab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23760" y="175564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7223760" y="1755648"/>
            <a:ext cx="54864" cy="53035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7351776" y="181051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endpoint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23760" y="235000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2" name="Shape 60"/>
          <p:cNvSpPr/>
          <p:nvPr/>
        </p:nvSpPr>
        <p:spPr>
          <a:xfrm>
            <a:off x="7223760" y="2350008"/>
            <a:ext cx="54864" cy="53035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7351776" y="24048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223760" y="2944368"/>
            <a:ext cx="157276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5" name="Shape 63"/>
          <p:cNvSpPr/>
          <p:nvPr/>
        </p:nvSpPr>
        <p:spPr>
          <a:xfrm>
            <a:off x="7223760" y="2944368"/>
            <a:ext cx="54864" cy="53035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7351776" y="29992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Giorno 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un AI Agent (Quick Recap)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01168" y="9692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che percepisce l'ambiente, ragiona e compie azioni autonome per raggiungere un obiettivo.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38328" y="1737360"/>
            <a:ext cx="594360" cy="59436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38328" y="17556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14356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18013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Decompone goal complessi in sotto-task. Usa LLM per ragionare step-by-step (ReAct, CoT, Tree-of-Thought).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132588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773168" y="173736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773168" y="17556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04688" y="14356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04688" y="18013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(context window), long-term (vector DB), episodic (conversazione). Determina cosa ricordare.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2898648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38328" y="3310128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38328" y="332841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9848" y="30083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9848" y="33741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database, codice, browser, file system. Il ponte tra ragionamento e mondo reale.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36008" y="2898648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773168" y="3310128"/>
            <a:ext cx="594360" cy="594360"/>
          </a:xfrm>
          <a:prstGeom prst="ellipse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773168" y="332841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04688" y="30083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04688" y="33741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loop: osserva output tool, decide passo successivo, itera fino al goal o stop condition.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4590288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92608" y="45902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= LLM + memoria + tool + loop di esecuzione. Ogni prodotto implementa questi 4 blocchi in modo diverso.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degli </a:t>
            </a:r>
            <a:r>
              <a:rPr lang="en-US" sz="2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</a:t>
            </a: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Agentic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Open-Source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49961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499616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20299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01168" y="2029968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5603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560320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6151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309067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01168" y="3090672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31455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362102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01168" y="3621024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65760" y="36758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4151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201168" y="4151376"/>
            <a:ext cx="64008" cy="457200"/>
          </a:xfrm>
          <a:prstGeom prst="round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0058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3375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Managed / Hosted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149961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3246120" y="1499616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410712" y="15544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0299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3246120" y="2029968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410712" y="208483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25603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3246120" y="2560320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3410712" y="26151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 Agent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309067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3246120" y="3090672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410712" y="31455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46120" y="362102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3246120" y="3621024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3410712" y="367588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(MS)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46120" y="4151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3246120" y="4151376"/>
            <a:ext cx="64008" cy="457200"/>
          </a:xfrm>
          <a:prstGeom prst="round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3410712" y="42062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Gemini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1005840"/>
            <a:ext cx="2651760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382512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/ Verticali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91072" y="149961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6291072" y="1499616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455664" y="15544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(coding)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91072" y="202996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1" name="Shape 49"/>
          <p:cNvSpPr/>
          <p:nvPr/>
        </p:nvSpPr>
        <p:spPr>
          <a:xfrm>
            <a:off x="6291072" y="2029968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6455664" y="208483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Windsurf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91072" y="2560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4" name="Shape 52"/>
          <p:cNvSpPr/>
          <p:nvPr/>
        </p:nvSpPr>
        <p:spPr>
          <a:xfrm>
            <a:off x="6291072" y="2560320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6455664" y="26151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/ SWE-agent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91072" y="309067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Shape 55"/>
          <p:cNvSpPr/>
          <p:nvPr/>
        </p:nvSpPr>
        <p:spPr>
          <a:xfrm>
            <a:off x="6291072" y="3090672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455664" y="31455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(search)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91072" y="362102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6291072" y="3621024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6455664" y="367588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(legal)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291072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61"/>
          <p:cNvSpPr/>
          <p:nvPr/>
        </p:nvSpPr>
        <p:spPr>
          <a:xfrm>
            <a:off x="6291072" y="4151376"/>
            <a:ext cx="64008" cy="457200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455664" y="420624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/ Waymo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01168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framework OSS + piattaforme cloud managed (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verticali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citati a titolo di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606557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MIT · LangChain Inc. · Maturità: Alta · Stars: 95k+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57" y="1572768"/>
            <a:ext cx="3747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= building blocks (chains, retrievers, prompts, tools)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= orchestrazione stateful a grafo: nodi + archi + cicli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massima flessibilità, HITL nativo, checkpoint SQLite/Postgres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community enorme, integrazioni con qualsiasi LLM e tool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CONTRO: curva di apprendimento, overhead boilerplate per casi semplici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langgraph.checkpoint.sqlite import\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SqliteSaver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minimo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graph.add_node('llm', llm_node)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graph.add_node('tools', tool_node)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graph.set_entry_point('llm')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'llm', router,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{'tools': 'tools', END: END}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graph.add_edge('tools', 'llm')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persistenza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SqliteSaver.from_conn_string(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'checkpoints.db')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Invocazione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{'configurable': {'thread_id': 'u-42'}}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app.invoke({'messages': [...]}, cfg)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flussi complessi con branching, HITL, multi-agent, checkpoint e recovery. Non per chatbot semplici.</a:t>
            </a:r>
            <a:endParaRPr lang="en-US" sz="10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4005072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TypeScript · MIT · LlamaIndex Inc. · RAG &amp; data connectors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" y="1652926"/>
            <a:ext cx="39795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Specializzato in RAG pipeline: ingestion, indexing, retrieval, reranking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data connectors: PDF, database, Notion, Slack, GitHub, S3...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LlamaCloud: managed service per indicizzazione dati enterprise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ReActAgent, FunctionCallingAgent con tool calling strutturato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eccellente per RAG complesso | CONTRO: meno flessibile di LangGraph per agentic flow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llama_index.core import VectorStoreIndex,\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SimpleDirectoryReader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llama_index.core.agent import ReActAgent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llama_index.core.tools import QueryEngineTool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RAG pipeline completa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SimpleDirectoryReader('docs/').load_data()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VectorStoreIndex.from_documents(docs)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query_engine = index.as_query_engine()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Wrappa come tool per l'agent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rag_tool = QueryEngineTool.from_defaults(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query_engine=query_engine,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name='itsm_knowledge',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description='Cerca nelle policy ITSM'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che usa il RAG come 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ReActAgent.from_tools(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[rag_tool],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llm=llm,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agent.chat('Mostra la policy P1')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RAG avanzato con molte sorgenti dati. LlamaIndex + LangGraph = combo potente.</a:t>
            </a:r>
            <a:endParaRPr lang="en-US" sz="10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747584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MIT · Microsoft Research · Multi-agent conversazionale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735176"/>
            <a:ext cx="341548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conversazionale: gli agenti si parlano tra loro via messaggi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 + UserProxyAgent: pattern base per human-in-the-loop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GroupChat: N agenti in conversazione con speaker selection automatica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0.4: nuovo AgentChat framework — breaking change rispetto a 0.2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ottimo per ricerca e prototipazione | CONTRO: meno production-ready di LangGraph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autogen import AssistantAgent,\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UserProxyAgent, GroupChat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 = AssistantAgent(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name='ITSM_Agent',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llm_config={'model': 'gpt-4o'},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system_message='Sei un agente ITSM.'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 = UserProxyAgent(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name='Operator',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human_input_mode='TERMINATE',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code_execution_config={'use_docker': True})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user_proxy.initiate_chat(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assistant,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message='Analizza il ticket INC-1002'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GroupChat per N agenti: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groupchat = GroupChat(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agents=[analyst, researcher, writer],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max_round=10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ricerca, code review multi-agente, scenari dove la conversazione tra agenti è il valore.</a:t>
            </a:r>
            <a:endParaRPr lang="en-US" sz="10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633534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MIT · CrewAI Inc. · Role-based multi-agent workflow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726078"/>
            <a:ext cx="37518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Crew: collezione di Agent con ruoli espliciti (Researcher, Writer, Reviewer...)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unità di lavoro assegnata a un agente con descrizione + expected output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Sequential (default) o Hierarchical (manager coordina gli agenti)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rapido da prototipare, intuitivo per scenari role-based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CONTRO: meno controllo fine-grained rispetto a LangGraph, meno documentato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Agent, Task, Crew, Process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= 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role='ITSM Analyst',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goal='Analizza e categorizza i ticket',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backstory='Esperto ITIL',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tools=[search_kb_tool, lookup_tool]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role='Report Writer',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goal='Scrivi report sintetici chiari'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Task(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description='Analizza ticket INC-1002',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expected_output='Analisi SLA + raccomandazione',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agent=analyst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= Crew(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agents=[analyst, writer],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tasks=[task],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process=Process.sequential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crew.kickoff()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pipeline role-based, content generation, workflow documentali con agenti specializzati.</a:t>
            </a:r>
            <a:endParaRPr lang="en-US" sz="105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(Microsoft)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547417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C# / Java · MIT · Microsoft · Enterprise .NET / Java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735176"/>
            <a:ext cx="351102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enterprise per integrare LLM in applicazioni .NET, Java e Python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Plugin: classi/metodi decorati che diventano tool per il kernel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Planner: il kernel pianifica automaticamente quale plugin chiamare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Framework: definisce business process come state machine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prima scelta per team Microsoft/.NET | CONTRO: overhead enterprise per progetti small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semantic_kernel as 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semantic_kernel.connectors.ai\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.google.google_ai import GoogleAIChatCompletion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sk.Kernel()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kernel.add_service(GoogleAIChatCompletion(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gemini_model_id='gemini-2.5-flash',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api_key=os.getenv('GOOGLE_AI_API_KEY')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ITSMPlugin: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@sk.kernel_function(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description='Cerca nelle policy ITSM')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search_kb(self, query: str) -&gt; str: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search_knowledge_base(query)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kernel.add_plugin(ITSMPlugin(), 'ITSM')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kernel.invoke(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plugin_name='ITSM',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function_name='search_kb',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query='policy ticket P1'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enterprise .NET/Java, integrazione con Azure AI, team già nel Microsoft ecosystem.</a:t>
            </a:r>
            <a:endParaRPr lang="en-US" sz="105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756683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Apache 2.0 · OpenAI · Evoluzione di Swarm · Semplicità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99237"/>
            <a:ext cx="36881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combina un LLM con istruzioni, tool e handoff ad altri agenti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trasferimento di controllo tra agenti con passaggio di contesto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integrazione nativa con OpenAI platform per visualizzazione run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input/output guardrail dichiarativi sull'agent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semplicità, ottimo per GPT-4o | CONTRO: legato a OpenAI (meno multi-model)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handoff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ticket_agent = 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name='TicketAgent',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instructions='Recupera e analizza ticket ITSM.',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tools=[lookup_record_tool, compute_sla_tool]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 = 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name='ITSM Orchestrator',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instructions='Coordina ticket e SLA.',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handoffs=[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handoff(ticket_agent),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Runner.run_sync(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orchestrator,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input='Analizza INC-1002 e calcola SLA'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print(result.final_output)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orchestrazione con GPT-4o, handoff espliciti tra agenti, prototipazione rapida multi-agent.</a:t>
            </a:r>
            <a:endParaRPr lang="en-US" sz="10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Assistants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· OpenAI Platform · Thread/Message/Run · File Storage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2798064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 chiave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792224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01168" y="1792224"/>
            <a:ext cx="54864" cy="58521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9184" y="182880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configurazione persistente (istruzioni + tool + file)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450592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01168" y="2450592"/>
            <a:ext cx="54864" cy="58521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9184" y="248716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Thread: conversazione multi-turn salvata su OpenAI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3108960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201168" y="3108960"/>
            <a:ext cx="54864" cy="58521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29184" y="3145536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singolo turno nella conversazione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767328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201168" y="3767328"/>
            <a:ext cx="54864" cy="58521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29184" y="3803904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esecuzione dell'assistant su un thread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1389888"/>
            <a:ext cx="2798064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55264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built-in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82112" y="1792224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3182112" y="1792224"/>
            <a:ext cx="54864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310128" y="182880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Interpreter: Python sandbox gestito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82112" y="2450592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3182112" y="2450592"/>
            <a:ext cx="54864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310128" y="248716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Search: RAG su file caricati (PDF, txt...)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82112" y="3108960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3182112" y="3108960"/>
            <a:ext cx="54864" cy="58521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10128" y="3145536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tool custom JSON schema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1389888"/>
            <a:ext cx="2798064" cy="347472"/>
          </a:xfrm>
          <a:prstGeom prst="roundRect">
            <a:avLst>
              <a:gd name="adj" fmla="val 15789"/>
            </a:avLst>
          </a:prstGeom>
          <a:solidFill>
            <a:srgbClr val="92400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236208" y="1444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Contro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63056" y="1792224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163056" y="1792224"/>
            <a:ext cx="54864" cy="585216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291072" y="1828800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 infrastruttura, scalabile nativamente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2450592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6163056" y="2450592"/>
            <a:ext cx="54864" cy="585216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291072" y="248716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Persistenza gestita da OpenAI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63056" y="3108960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6163056" y="3108960"/>
            <a:ext cx="54864" cy="585216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291072" y="3145536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Lock-in su OpenAI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63056" y="3767328"/>
            <a:ext cx="279806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6163056" y="3767328"/>
            <a:ext cx="54864" cy="585216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291072" y="3803904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Latenza tool-call più alta di LangGraph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d'uso: prototipazione rapida, chatbot con file upload, GPT-4o con code interpreter senza infrastruttura.</a:t>
            </a:r>
            <a:endParaRPr lang="en-US" sz="105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806725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· AWS · Claude, Titan, Llama, Mistral · HIPAA/GDPR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64208"/>
            <a:ext cx="377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configura LLM + action groups (tool) + knowledge base (RAG) via console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Groups: Lambda function come tool — serverless, scalabile, IAM-protected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S3 bucket → embedding → OpenSearch vector search gestito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nativi: PII, tossicità, topic filtering configurabili via UI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compliance enterprise, VPC, audit CloudTrail | CONTRO: vendor lock-in AWS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boto3.client(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'bedrock-agent-runtime',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region_name='eu-west-1')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client.invoke_agent(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agentId='XXXXXXXX',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agentAliasId='XXXXXXXX',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sessionId='session-42',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inputText='Analizza ticket INC-1002'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response['completion']: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 = event.get('chunk', {})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'bytes' in chunk: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print(chunk['bytes'].decode(), end='')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Guardrail inline: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bedrock.apply_guardrail(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guardrailIdentifier='my-guardrail',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source='INPUT',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content=[{'text':{'text': user_input}}]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enterprise AWS con compliance HIPAA/GDPR, multi-model, serverless Lambda, audit CloudTrail.</a:t>
            </a:r>
            <a:endParaRPr lang="en-US" sz="10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 Agent Builder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870414" cy="347472"/>
          </a:xfrm>
          <a:prstGeom prst="roundRect">
            <a:avLst>
              <a:gd name="adj" fmla="val 15789"/>
            </a:avLst>
          </a:prstGeom>
          <a:solidFill>
            <a:srgbClr val="0A234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· Google Cloud · Gemini 2.5 Pro/Flash · Search nativo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" y="1664208"/>
            <a:ext cx="353831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Builder: no-code/low-code per agenti con Gemini e Google Search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il modello cita fonti verificate da Google Search o Vertex Search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tool standard pre-built (Gmail, Calendar, BigQuery, Cloud Run)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grounding nativo, Gemini 2.5, GCP audit log | CONTRO: meno ecosistema OSS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480560" y="987552"/>
            <a:ext cx="4480560" cy="3493008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0" y="1060704"/>
            <a:ext cx="4297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vertexai.preview.generative_models import\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GenerativeModel, Tool, grounding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GenerativeModel('gemini-2.5-flash')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= Tool.from_google_search_retrieval(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grounding.GoogleSearchRetrieval())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model.generate_content(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'Policy aggiornata per ticket P1 ITIL 4',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tools=[tool]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con function calling: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ReasoningEngine.create(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agent_executor,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requirements=[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'langchain',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'langchain-google-vertexai'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ideale: GCP + Gemini 2.5, grounding su Google Search, audit log nativi, data residency EU.</a:t>
            </a:r>
            <a:endParaRPr lang="en-US" sz="105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&amp; Copilot Studio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4206240" cy="365760"/>
          </a:xfrm>
          <a:prstGeom prst="roundRect">
            <a:avLst>
              <a:gd name="adj" fmla="val 15000"/>
            </a:avLst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01168" y="1389888"/>
            <a:ext cx="64008" cy="6766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56616" y="14447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centralizzato per LLM: GPT-4o, o3-mini, Phi-3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2139696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01168" y="2139696"/>
            <a:ext cx="64008" cy="6766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56616" y="21945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Flow: pipeline visuale LLM con versioning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889504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889504"/>
            <a:ext cx="64008" cy="6766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56616" y="29443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content safety + fairness integrati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3639312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01168" y="3639312"/>
            <a:ext cx="64008" cy="6766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56616" y="369417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Search: RAG enterprise su SharePoint, SQL, Blob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69264"/>
            <a:ext cx="4206240" cy="365760"/>
          </a:xfrm>
          <a:prstGeom prst="roundRect">
            <a:avLst>
              <a:gd name="adj" fmla="val 15000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389888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64008" cy="6766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18888" y="14447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per citizen developer: drag &amp; drop agent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139696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663440" y="2139696"/>
            <a:ext cx="64008" cy="6766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818888" y="21945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Teams, SharePoint, Power Platform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9504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663440" y="2889504"/>
            <a:ext cx="64008" cy="6766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18888" y="29443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enterprise: SAP, Salesforce, ServiceNow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639312"/>
            <a:ext cx="4206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663440" y="3639312"/>
            <a:ext cx="64008" cy="6766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818888" y="369417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Limiti: meno flessibile per logica custom complessa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d'uso Azure: enterprise Microsoft con AD, Teams, SharePoint. Compliance EU con data residency garantita.</a:t>
            </a:r>
            <a:endParaRPr lang="en-US" sz="10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Tools: Osservabilità e Infrastruttura Agent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73152" cy="12984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OSS. Tracing, eval, cost, playground. Self-host o cloud.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Compatibile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consigliato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LangChain.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987552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182112" y="987552"/>
            <a:ext cx="73152" cy="12984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346704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46704" y="14081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Tracing automatico, dataset, LLM-as-a-Judge evals. Piano free generoso.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987552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63056" y="987552"/>
            <a:ext cx="73152" cy="12984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327648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4081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Rust. Alta performance, filtri nativi, sparse vectors. Cloud managed o Docker self-host.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2432304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01168" y="2432304"/>
            <a:ext cx="73152" cy="12984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65760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 / Modal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cloud per esecuzione codice sicura. Agent esegue Python in sandbox isolati via API.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2432304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182112" y="2432304"/>
            <a:ext cx="73152" cy="12984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346704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46704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(Google). Standard per comunicazione tra agent eterogenei. 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432304"/>
            <a:ext cx="2798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163056" y="2432304"/>
            <a:ext cx="73152" cy="129844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327648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28529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agent controlla browser/desktop come umano. Cursor, Devin usano approcci simili.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4572000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2608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osservabilità e governance diventano non-opzionali. Langfuse + Qdrant = stack OSS completo per agent enterprise.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Framework Open-Source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146304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692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969264"/>
            <a:ext cx="128016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37360" y="969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Linguaggio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27248" y="969264"/>
            <a:ext cx="128016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127248" y="969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8848" y="969264"/>
            <a:ext cx="9144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498848" y="9692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969264"/>
            <a:ext cx="109728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86400" y="969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969264"/>
            <a:ext cx="224028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675120" y="9692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1353312"/>
            <a:ext cx="146304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46888" y="1389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37360" y="1353312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783080" y="1389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27248" y="1353312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172968" y="13898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98848" y="1353312"/>
            <a:ext cx="91440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44568" y="138988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1353312"/>
            <a:ext cx="1097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532120" y="13898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1353312"/>
            <a:ext cx="2240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720840" y="138988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complessi, HITL, checkpoint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1883664"/>
            <a:ext cx="146304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46888" y="1920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37360" y="1883664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783080" y="1920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/ 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27248" y="1883664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172968" y="1920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98848" y="1883664"/>
            <a:ext cx="91440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544568" y="192024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0" y="1883664"/>
            <a:ext cx="1097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532120" y="19202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75120" y="1883664"/>
            <a:ext cx="2240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720840" y="19202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avanzato, 150+ data connector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1168" y="2414016"/>
            <a:ext cx="146304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246888" y="24505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737360" y="2414016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783080" y="24505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27248" y="2414016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172968" y="24505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498848" y="2414016"/>
            <a:ext cx="91440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544568" y="245059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0" y="2414016"/>
            <a:ext cx="1097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532120" y="24505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75120" y="2414016"/>
            <a:ext cx="2240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6720840" y="24505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code review, conversazionale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01168" y="2944368"/>
            <a:ext cx="146304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246888" y="29809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737360" y="2944368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1783080" y="29809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127248" y="2944368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3172968" y="29809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498848" y="2944368"/>
            <a:ext cx="91440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4544568" y="298094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0" y="2944368"/>
            <a:ext cx="1097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5532120" y="29809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675120" y="2944368"/>
            <a:ext cx="2240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720840" y="298094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workflow, rapido proto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01168" y="3474720"/>
            <a:ext cx="146304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246888" y="3511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737360" y="3474720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1783080" y="35112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Py/C#/Java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127248" y="3474720"/>
            <a:ext cx="128016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3172968" y="35112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498848" y="3474720"/>
            <a:ext cx="91440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4544568" y="3511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486400" y="3474720"/>
            <a:ext cx="1097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5532120" y="351129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675120" y="3474720"/>
            <a:ext cx="2240280" cy="49377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6720840" y="35112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.NET, Azure, Microsoft stack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01168" y="4005072"/>
            <a:ext cx="146304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246888" y="40416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737360" y="4005072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0" name="Text 78"/>
          <p:cNvSpPr/>
          <p:nvPr/>
        </p:nvSpPr>
        <p:spPr>
          <a:xfrm>
            <a:off x="1783080" y="40416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127248" y="4005072"/>
            <a:ext cx="128016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3172968" y="40416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498848" y="4005072"/>
            <a:ext cx="91440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4" name="Text 82"/>
          <p:cNvSpPr/>
          <p:nvPr/>
        </p:nvSpPr>
        <p:spPr>
          <a:xfrm>
            <a:off x="4544568" y="404164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486400" y="4005072"/>
            <a:ext cx="1097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5532120" y="40416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675120" y="4005072"/>
            <a:ext cx="2240280" cy="493776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6720840" y="40416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semplicità, startup veloci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Piattaforme Cloud Managed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164592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9692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969264"/>
            <a:ext cx="146304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920240" y="9692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969264"/>
            <a:ext cx="10972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56432" y="969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nativo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969264"/>
            <a:ext cx="10972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26864" y="969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97296" y="969264"/>
            <a:ext cx="128016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797296" y="969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969264"/>
            <a:ext cx="17830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50608" y="9692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 per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1353312"/>
            <a:ext cx="164592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46888" y="13898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20240" y="1353312"/>
            <a:ext cx="146304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965960" y="13898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o3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56432" y="135331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502152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6864" y="135331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672584" y="1389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97296" y="1353312"/>
            <a:ext cx="128016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843016" y="1389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50608" y="1353312"/>
            <a:ext cx="17830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96328" y="13898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veloce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1901952"/>
            <a:ext cx="164592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46888" y="19385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20240" y="1901952"/>
            <a:ext cx="146304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965960" y="1938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Claude+Llama+..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56432" y="1901952"/>
            <a:ext cx="10972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502152" y="19385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S3+OpenSearch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26864" y="1901952"/>
            <a:ext cx="10972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672584" y="19385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AI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7296" y="1901952"/>
            <a:ext cx="128016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843016" y="19385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HIPAA+GDPR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50608" y="1901952"/>
            <a:ext cx="17830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196328" y="193852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AWS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1168" y="2450592"/>
            <a:ext cx="164592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246888" y="2487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920240" y="2450592"/>
            <a:ext cx="146304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965960" y="2487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family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456432" y="245059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502152" y="24871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Search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26864" y="245059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672584" y="24871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97296" y="2450592"/>
            <a:ext cx="128016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843016" y="2487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50608" y="2450592"/>
            <a:ext cx="17830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7196328" y="24871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+ Search native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01168" y="2999232"/>
            <a:ext cx="164592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246888" y="30358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Foundry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920240" y="2999232"/>
            <a:ext cx="146304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1965960" y="30358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Phi-3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456432" y="2999232"/>
            <a:ext cx="10972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3502152" y="30358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26864" y="2999232"/>
            <a:ext cx="10972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4672584" y="30358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797296" y="2999232"/>
            <a:ext cx="128016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5843016" y="3035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EU DR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150608" y="2999232"/>
            <a:ext cx="1783080" cy="51206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196328" y="3035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Microsoft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01168" y="3547872"/>
            <a:ext cx="164592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246888" y="35844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1920240" y="3547872"/>
            <a:ext cx="146304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1965960" y="35844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via Azure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456432" y="354787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3502152" y="3584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626864" y="3547872"/>
            <a:ext cx="10972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4672584" y="3584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797296" y="3547872"/>
            <a:ext cx="128016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5843016" y="35844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compl.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150608" y="3547872"/>
            <a:ext cx="1783080" cy="512064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7196328" y="35844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developer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01168" y="4864608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292608" y="48646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cloud managed richiedono lock-in parziale. Valuta exit strategy con LiteLLM prima di adottare.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Come Scegliere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73152" cy="115214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Java o .NET?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Kernel + Quarkus/LangChain4j. Considera Bedrock/Azure se già su cloud MS/AWS.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98755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681728" y="987552"/>
            <a:ext cx="73152" cy="115214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46320" y="1060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compliance (GDPR, HIPAA)?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4081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Bedrock (AWS) o Azure OpenAI con data residency EU. Mai Assistants API con dati sensibili.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26771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01168" y="2267712"/>
            <a:ext cx="73152" cy="115214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6576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complesso su molte sorgenti?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26883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LlamaIndex + Qdrant (OSS) o Vertex AI Search (managed). Considera grounding nativo Gemini.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226771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681728" y="2267712"/>
            <a:ext cx="73152" cy="115214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46320" y="23408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multi-agent + HITL + checkpoint?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26883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LangGraph. È la scelta di default per agent production-grade in Python.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354787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201168" y="3547872"/>
            <a:ext cx="73152" cy="1152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6576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rapido, team piccolo?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39684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CrewAI (role-based) o OpenAI Agents SDK (se GPT-4o). LangGraph solo se sai già che serve.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3547872"/>
            <a:ext cx="42062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681728" y="3547872"/>
            <a:ext cx="73152" cy="11521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4632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Microsoft + Teams?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46320" y="39684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Copilot Studio (citizen dev) o Azure AI Foundry + Semantic Kernel (dev team).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" y="4773168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2608" y="4773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una scelta universale. Valuta sempre: linguaggio team, compliance, scalabilità, costo operativo, lock-in.</a:t>
            </a:r>
            <a:endParaRPr lang="en-US" sz="105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2026: Dove Sta Andando il Settore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10896" y="1261872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1089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06070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da 1M→10M 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40817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bisogno di RAG per documenti corti. RAG rimane essenziale per retrieval preciso su corpus grandi.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98755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791456" y="126187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9145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06070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reasoning (o3, Gemini 2.5 Pro)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40817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Pensiero step-by-step nativo. Agent loop più breve — il modello ragiona prima di agire.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" y="219913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10896" y="24734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10896" y="24734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22722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&amp; MCP 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61975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eterogenei si parlano via protocollo standard. Fine del vendor lock-in per tool e agent.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19913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791456" y="247345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91456" y="24734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22722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&amp; Operator 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67528" y="261975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 controllano browser/desktop. Automazione processi senza API (form, click, scraping).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" y="341071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310896" y="36850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10896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348386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Osservabilità obbligatoria (AI Act EU)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" y="383133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in vigore 2025: risk assessment, logging, audit trail obbligatori per high-risk AI.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3410712"/>
            <a:ext cx="4206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791456" y="36850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791456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348386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LM on-device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67528" y="383133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Phi-3, Gemma 2B, Llama 3.2 girano su laptop. Privacy, offline, costo zero per task semplici.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1168" y="4677156"/>
            <a:ext cx="8686800" cy="3474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292608" y="467715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monitorare: A2A + MCP diventeranno standard de facto entro fine 2026. Inizia a strutturare i tool per la portabilità.</a:t>
            </a:r>
            <a:endParaRPr lang="en-US" sz="105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Pomeriggio — Logging + Cost + Guardrail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06070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01168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00584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log strutturato JSON a ogni richiesta (structlog o logging standard)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70078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1168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Conteggio token e costo stimato per ogni chiamata LLM — accumula in lista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234086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01168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28600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output con Pydantic + error response leggibile (HTTP 422/500)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" y="298094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116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92608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PII con regex su log e risposta prima dell'invio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62102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01168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56616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Scrittura cost_report.md al termine della sessione di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1168" y="4251960"/>
            <a:ext cx="8686800" cy="621792"/>
          </a:xfrm>
          <a:prstGeom prst="roundRect">
            <a:avLst>
              <a:gd name="adj" fmla="val 8824"/>
            </a:avLst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92608" y="42793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Opzionale: abilita Langfuse in 2 righe (LANGFUSE_SECRET_KEY + LANGFUSE_PUBLIC_KEY nel .env) per tracing LLM visuale.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Completa — Stack Enterprise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92608" y="1289304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84048" y="1362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API Gateway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700784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29768" y="17465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FastAPI/Quarkus endpoint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048256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9768" y="2093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provider switch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29768" y="24414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 + rate limit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27248" y="1289304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18688" y="1362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1700784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64408" y="17465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2048256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64408" y="2093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+ checkpoint SQLite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2395728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+ Router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1293876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053328" y="13670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53328" y="1705356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099048" y="17510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LangChain4j/Python tools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2052828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099048" y="20985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2400300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099048" y="24460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(Giorno 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" y="3136392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84048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Layer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" y="3547872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29768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PII + injection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3895344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29768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content safety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4242816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29768" y="4288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 rate limit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27248" y="3136392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218688" y="3209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18688" y="3547872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3264408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LangSmith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18688" y="3895344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3264408" y="39410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18688" y="4242816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3264408" y="42885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report + alerts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61888" y="3140964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92400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053328" y="32141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53328" y="3552444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099048" y="35981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Kubernetes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53328" y="3899916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099048" y="39456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GCP/AWS/Azure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53328" y="4247388"/>
            <a:ext cx="2697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6099048" y="42931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+ IaC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Produzione — Prima del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042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353312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10896" y="14173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85216" y="1389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chiave API in codice/git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737360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10896" y="18013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85216" y="177393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 configurato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121408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10896" y="218541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85216" y="2157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 su log e 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2505456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10896" y="25694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85216" y="25420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per IP attivo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987552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73168" y="1042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1728" y="1353312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791456" y="14173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065776" y="1389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JSON strutturati con request_id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81728" y="1737360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791456" y="18013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065776" y="177393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attivo (Langfuse/LangSmith)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81728" y="2121408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4791456" y="218541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065776" y="215798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 + alert budget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81728" y="2505456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791456" y="25694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065776" y="254203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/health risponde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" y="2953512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92608" y="3008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Resilienza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1168" y="3319272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310896" y="33832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85216" y="33558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cap nell'agent loop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3703320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310896" y="37673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85216" y="37398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LLM configurato (es. 25s)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1168" y="4087368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310896" y="415137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585216" y="41239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provider (LiteLLM)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4471416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310896" y="45354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585216" y="450799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con exponential backoff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81728" y="2953512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4773168" y="3008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681728" y="3319272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48"/>
          <p:cNvSpPr/>
          <p:nvPr/>
        </p:nvSpPr>
        <p:spPr>
          <a:xfrm>
            <a:off x="4791456" y="33832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5065776" y="335584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su input/output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81728" y="3703320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Shape 51"/>
          <p:cNvSpPr/>
          <p:nvPr/>
        </p:nvSpPr>
        <p:spPr>
          <a:xfrm>
            <a:off x="4791456" y="37673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5065776" y="373989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endpoint (pytest + httpx)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81728" y="4087368"/>
            <a:ext cx="4206240" cy="34747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Shape 54"/>
          <p:cNvSpPr/>
          <p:nvPr/>
        </p:nvSpPr>
        <p:spPr>
          <a:xfrm>
            <a:off x="4791456" y="415137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5065776" y="412394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content safety attivo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81728" y="4471416"/>
            <a:ext cx="4206240" cy="347472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4791456" y="45354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5065776" y="450799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manuale su 20+ query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01168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— Agentic AI Panorama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86868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66928" y="1005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è il framework di default per agent Python production-grade — impara le primitive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1168" y="166420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per RAG complesso; AutoGen/CrewAI per multi-agent role-based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221284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managed (Bedrock/Vertex/Azure) riducono infrastruttura ma aumentano lock-in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1168" y="276148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Qdrant + LiteLLM = stack OSS completo per produzione senza vendor lock-in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1168" y="331012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66928" y="3200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2025: osservabilità, audit log e guardrail non sono opzionali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01168" y="38587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66928" y="3749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in base a: linguaggio team, compliance, scalabilità, exit strategy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4315968"/>
            <a:ext cx="8686800" cy="594360"/>
          </a:xfrm>
          <a:prstGeom prst="roundRect">
            <a:avLst>
              <a:gd name="adj" fmla="val 9231"/>
            </a:avLst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92608" y="435254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 (Giorno 5): valutazione qualità (LLM-as-a-Judge), AI Act governance, capstone finale.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3402</Words>
  <Application>Microsoft Macintosh PowerPoint</Application>
  <PresentationFormat>Presentazione su schermo (16:9)</PresentationFormat>
  <Paragraphs>557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Giorno 4 - Agentic AI Panorama - Parte 2</dc:title>
  <dc:subject>PptxGenJS Presentation</dc:subject>
  <dc:creator>Alessandro Marchetti</dc:creator>
  <cp:lastModifiedBy>Microsoft Office User</cp:lastModifiedBy>
  <cp:revision>7</cp:revision>
  <dcterms:created xsi:type="dcterms:W3CDTF">2026-05-14T11:45:27Z</dcterms:created>
  <dcterms:modified xsi:type="dcterms:W3CDTF">2026-05-17T22:08:23Z</dcterms:modified>
</cp:coreProperties>
</file>