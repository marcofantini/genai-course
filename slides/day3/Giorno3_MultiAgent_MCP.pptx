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 totali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0E-42A0-A103-C603FFC5304E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0E-42A0-A103-C603FFC5304E}"/>
              </c:ext>
            </c:extLst>
          </c:dPt>
          <c:dPt>
            <c:idx val="2"/>
            <c:invertIfNegative val="0"/>
            <c:bubble3D val="0"/>
            <c:spPr>
              <a:solidFill>
                <a:srgbClr val="4C1D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0E-42A0-A103-C603FFC530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Agent Singolo</c:v>
                </c:pt>
                <c:pt idx="1">
                  <c:v>Supervisor + 3 Agent</c:v>
                </c:pt>
                <c:pt idx="2">
                  <c:v>4 turni multi-agent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</c:v>
                </c:pt>
                <c:pt idx="1">
                  <c:v>3200</c:v>
                </c:pt>
                <c:pt idx="2">
                  <c:v>12800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0E-42A0-A103-C603FFC530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93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2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Minimale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MCP Guidato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3 · Sviluppo di Applicazioni GenAI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 ·  Maggio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Giorno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65960" cy="34747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38912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&amp; 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1965960" cy="34747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514600" y="822960"/>
            <a:ext cx="196596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587752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– 13:00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+ 3 Agent specializzati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1965960" cy="34747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36592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– 15:00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Arch.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Costi, anti-pattern, architetture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822960"/>
            <a:ext cx="1965960" cy="34747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812280" y="822960"/>
            <a:ext cx="196596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885432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18:00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1874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&amp; integrazione agent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Giorno 2 — Cosa abbiamo in mano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LangGraph con stato TypedDict condiviso fra nodi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tool (search_kb, lookup_record, compute) + loop ReAct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576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condizionale: tool_call → tools | end → 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0098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SQLite + conversazioni multi-turn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Limite: un solo agent non scala su task paralleli o multi-dominio → domanda guida di oggi: quando vale la pena spezzarlo?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Minimale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sistema multi-agent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operativa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LLM-agent, ognuno con prompt e tool propri, coordinati da un router — deterministico o LLM — che decide chi parla e quando. Lo stato è condiviso (TypedDict) e i messaggi fanno da memoria comune.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≠ "più LLM". È più LLM con un protocollo di coordinazione esplicito.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4096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≠ "più LLM". È più LLM con un protocollo di coordinazione esplicito.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777240"/>
            <a:ext cx="3840480" cy="914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937760" y="777240"/>
            <a:ext cx="228600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257800" y="850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Specializzazione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161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 ha un dominio ridotto: prompt più corto, errori più rari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3840480" cy="914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228600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Coordinazione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decide chi prende il turno (supervisor / router)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880360"/>
            <a:ext cx="3840480" cy="914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937760" y="2880360"/>
            <a:ext cx="228600" cy="91440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257800" y="2953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condiviso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scrivono e leggono dallo stesso TypedDict (graph state)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NON usare multi-agent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conservativo: se un singolo agent funziona, NON spezzarlo.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singolo già risponde bene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moltiplica solo i costi: stesso risultato per 4× il prezzo.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task è strettamente sequenziale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c'è parallelismo da sfruttare: una catena di tool basta e avanza.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0266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hai ancora un single agent stabile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3192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base solida, il multi-agent amplifica i bug invece di risolverli.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8953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vincoli di latenza stretti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1879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handoff aggiunge un round-trip: 1–3 secondi per agent in più.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multi-agent vale davvero la pena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condizioni necessarie (non sufficienti) — più ne valgono, più conviene.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 distinti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6733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ITSM, HR, Finance: prompt diversi, tool diversi, regole diverse. Tenerli in un solo prompt diventa fragile.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0058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Parallelismo reale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sotto-task possono procedere in parallelo (es. recuperare 3 sorgenti, poi sintetizzare il risultato).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0058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611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per ruolo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9593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richiede sapere quale 'ruolo' ha prodotto cosa. Multi-agent rende il ruolo esplicito e tracciabile.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over-engineering — il Test del Rasoio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97280" y="749808"/>
            <a:ext cx="694944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88720" y="8046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singolo agent con tool sufficientemente buoni risolve il problema?"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task richiede parallelismo?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201168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251960" y="1472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Multi-agent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2377440" cy="3474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446520" y="1472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Single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isolare domini di competenza?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2286000"/>
            <a:ext cx="201168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251960" y="2295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Multi-agent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286000"/>
            <a:ext cx="2377440" cy="3474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46520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Tool specializzati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già un single agent stabile?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3108960"/>
            <a:ext cx="201168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251960" y="3118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Considera upgrade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2377440" cy="3474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44652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Costruisci prima quello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coordinamento è più semplice del problema?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3931920"/>
            <a:ext cx="201168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251960" y="39410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Multi-agent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2377440" cy="3474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446520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Stai over-engineering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 — il Coordinatore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526274" y="841249"/>
            <a:ext cx="5177052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836914" y="841249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6274" y="2174451"/>
            <a:ext cx="146304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526274" y="2174451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26274" y="2905971"/>
            <a:ext cx="1463040" cy="548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526274" y="2905971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174451"/>
            <a:ext cx="1463040" cy="594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383280" y="2174451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905971"/>
            <a:ext cx="1463040" cy="548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383280" y="2905971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search_kb()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40286" y="2172631"/>
            <a:ext cx="1463040" cy="594360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240286" y="2172631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40286" y="2904151"/>
            <a:ext cx="1463040" cy="548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240286" y="2904151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write_db()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Supervisor non risolve direttamente: riceve il task, lo classifica, decide quale agent invocare, attende il risultato e decide se serve un altro round o concludere. È un router con memoria.</a:t>
            </a:r>
            <a:endParaRPr lang="en-US" sz="1300" dirty="0"/>
          </a:p>
        </p:txBody>
      </p:sp>
      <p:sp>
        <p:nvSpPr>
          <p:cNvPr id="26" name="Freccia bidirezionale verticale 25">
            <a:extLst>
              <a:ext uri="{FF2B5EF4-FFF2-40B4-BE49-F238E27FC236}">
                <a16:creationId xmlns:a16="http://schemas.microsoft.com/office/drawing/2014/main" id="{AA9C6285-EA2D-8B07-0E70-586DA824B071}"/>
              </a:ext>
            </a:extLst>
          </p:cNvPr>
          <p:cNvSpPr/>
          <p:nvPr/>
        </p:nvSpPr>
        <p:spPr>
          <a:xfrm>
            <a:off x="2112217" y="1618489"/>
            <a:ext cx="291153" cy="546818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8A9F4223-31C5-EA25-7BF4-7122D075B419}"/>
              </a:ext>
            </a:extLst>
          </p:cNvPr>
          <p:cNvSpPr/>
          <p:nvPr/>
        </p:nvSpPr>
        <p:spPr>
          <a:xfrm>
            <a:off x="5826229" y="1618489"/>
            <a:ext cx="291153" cy="546818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bidirezionale verticale 27">
            <a:extLst>
              <a:ext uri="{FF2B5EF4-FFF2-40B4-BE49-F238E27FC236}">
                <a16:creationId xmlns:a16="http://schemas.microsoft.com/office/drawing/2014/main" id="{36F1F6C7-5EC0-DF26-F10B-13ADB659A4F8}"/>
              </a:ext>
            </a:extLst>
          </p:cNvPr>
          <p:cNvSpPr/>
          <p:nvPr/>
        </p:nvSpPr>
        <p:spPr>
          <a:xfrm>
            <a:off x="3969223" y="1607524"/>
            <a:ext cx="291153" cy="546818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in LangGraph — routing minimale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29413" y="1931670"/>
            <a:ext cx="283736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supervisor è un nodo come gli altri: riceve lo stato, chiama l'LLM con il system prompt di smistamento, riceve una decisione strutturata e la inserisce nello stato. Il grafo legge state['next'] e instrada il flusso.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754880" y="1069325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Literal, TypedDict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StateGraph, END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S(TypedDict):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next: Literal['triage','knowledge','action','end']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supervisor(state: S) -&gt; 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 = llm.invoke([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SystemMessage(SUPERVISOR_PROMPT),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*state['messages']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 response_format=Decision)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{'next': decision.next}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g.add_node('supervisor', supervisor)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g.add_node('triage', triage_agent)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g.add_node('knowledge', knowledge_agent)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g.add_node('action', action_agent)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g.add_conditional_edges('supervisor',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s: s['next'],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{'triage':'triage','knowledge':'knowledge',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'action':'action','end':END})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specializzati — principio del minimo privilegio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 vede solo i tool che gli servono. Niente di più, niente di meno.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34747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intent, priorità e dominio del task.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autorizzati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classify()  ·  priority()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messaggio utente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database, KB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2743200" cy="34747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3832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informazioni da fonti documentali.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autorizzati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search_kb()  ·  retrieve()  ·  get_policy()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vector store, KB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writeDB, notifiche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2743200" cy="34747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3093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effetti collaterali sul mondo esterno.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autorizzati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write_db()  ·  notify()  ·  create_ticket()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DB, mail, ITSM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KB documentale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condiviso — il collante del grafo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1154691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agent leggono e scrivono dallo stesso TypedDict. Tre campi obbligatori in qualsiasi multi-agent: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365760" y="1959363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959363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95936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 conversazionale (append-only)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2283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2462283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46228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chi prende il turno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65203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965203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scratchpad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96520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risultati intermedi non destinati all'utente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59563"/>
            <a:ext cx="411480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362357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Attenzione: due agent che scrivono la stessa chiave creano race condition — usare un reducer (es. add_messages).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54691"/>
            <a:ext cx="4114800" cy="347472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54880" y="1227843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Annotated, TypedDict, Literal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langgraph.graph.message import add_messages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operator import add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S(TypedDict):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Annotated[list, add_messages]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next: Literal['triage','knowledge',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'action','supervisor','end']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triage: dict          # output TriageAgent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citations: Annotated[list, add]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actions: Annotated[list, add]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task_id: str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tokens_in: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tokens_out: int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— costo concreto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1101852"/>
            <a:ext cx="2651760" cy="18288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371600" y="1147572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371600" y="11475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333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decide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91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con prompt di routing.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next = 'knowledge'.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01852"/>
            <a:ext cx="2651760" cy="18288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297680" y="1147572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297680" y="11475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8333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passa all'agent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991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riceve messages, triage, scratchpad. Estende e ritorna.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01852"/>
            <a:ext cx="2651760" cy="18288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223760" y="1147572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223760" y="11475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8333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torna al supervisor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1991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supervisor legge la sintesi e decide: next round o end.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13532"/>
            <a:ext cx="8412480" cy="45720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65760" y="3232404"/>
            <a:ext cx="8412480" cy="16916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33055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concreto di un handoff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7131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handoff = +1 LLM call (supervisor) + 1 LLM call (agent). L'intero stato viaggia con la chiamata. Esempio: 4 handoff su un contesto da 4 KB → 16 KB in input ai modelli.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degli handoff — facciamo i conti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41695634"/>
              </p:ext>
            </p:extLst>
          </p:nvPr>
        </p:nvGraphicFramePr>
        <p:xfrm>
          <a:off x="365760" y="1042416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120640" y="1042416"/>
            <a:ext cx="3657600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257800" y="1106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pratica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435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≈ N_round × N_agent × (in_tok + out_tok) × prezzo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20640" y="2276856"/>
            <a:ext cx="3657600" cy="53035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212080" y="23225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0" y="2322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round × 4 agent × 1.000 tok = 20.000 tok/query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0" y="2916936"/>
            <a:ext cx="3657600" cy="53035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212080" y="29626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9626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~$0,0015 per query (@$0,075/1M)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0" y="3557016"/>
            <a:ext cx="3657600" cy="53035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212080" y="360273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602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~$0,15 per query (@$7,5/1M) — 100× di più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20640" y="4197096"/>
            <a:ext cx="3657600" cy="53035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212080" y="42428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q/giorno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2428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$45/mese a $4.500/mese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 vs Autonomia — uno spettro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28600" y="1153008"/>
            <a:ext cx="2743200" cy="33832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28600" y="1153008"/>
            <a:ext cx="27432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28600" y="115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1655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decide ogni passo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250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deterministico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44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semplice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43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Default in produzione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1153008"/>
            <a:ext cx="2743200" cy="33832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154680" y="1153008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154680" y="115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1655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libertà locale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250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parzialmente fissi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844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moderato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3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 task aperti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1153008"/>
            <a:ext cx="2743200" cy="33832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080760" y="1153008"/>
            <a:ext cx="2743200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080760" y="115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1655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 tutto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250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emergente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844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difficile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43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Solo con guardrails forti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strutturato — vedere cosa fa il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13275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loggare per ogni handoff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20756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7207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/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7207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agente mittente / destinatario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23676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22236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2236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testo troncato a 80 char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26596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7265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tokens_in / tokens_out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7265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costi per ogni chiamata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29516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32295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2295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perché il supervisor ha scelto così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32436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" y="37324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324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timestamp ISO per replay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54880" y="114300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logging, json,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= logging.getLogger('multiagent')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log_handoff(state, from_a, to_a, decision, usage):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logger.info(json.dumps({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'event'    : 'handoff',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'task_id'  : state['task_id'],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'from'     : from_a,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'to'       : to_a,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'decision' : decision,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'tokens_in': usage.input_tokens,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'tokens_out': usage.output_tokens,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'ts'       : time.time()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Nel supervisor node: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log_handoff(state, 'supervisor',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decision.next, decision.reason,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resp.usage)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 Orchestrazione Multi-Agent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931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Struttura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Orchestrator-Worker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orchestratore + N 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Semplice, scalabile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 orchestratore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parallelizzabili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decide chi fa cosa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Flessibile, adattivo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Complesso da debuggare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dinamici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Albero di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Chiaro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Latenza cumulativa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Organizzazioni grandi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autonomi negoziano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Robusto, decentralizzato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Imprevedibile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Ricerca/esplorazione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lineare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noto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Multi-Agent a confronto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29260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Contro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Multi-Agent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 fine, debug, stato esplicito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codice, setup manuale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ad alto livello, ruoli nativi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 controllo, costi nascosti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Conversazioni multi-agent, feedback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deterministico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Ecosistema ampio, molti tool pronti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Overhead, meno trasparente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3913632"/>
            <a:ext cx="797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Consiglio: padroneggia LangGraph multi-agent prima di aggiungere astrazione. Ogni framework nasconde complessità che prima o poi trovi ad affrontare.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 — Supervisor + 3 Agenti specializzati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 — Supervisor + 3 Agenti specializzati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8595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Decomponete il vostro dominio in 2–3 agenti (es. Triage, Knowledge, Action)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4996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lo stato (TypedDict) con messages, next, triage, citations, actions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1396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il supervisor: response_format = enum dei prossimi nodi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Implementate ogni agent con prompt mirato e SOLO i suoi tool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198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Aggiungete conditional_edges sul campo 'next' dello stato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0599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Loggate ogni handoff con from, to, task_id, tokens, decision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4864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Deliverable: day3_multiagent/supervisor.py + diagramma + screenshot di un handoff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Architetture &amp; Costi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architetture — cosa osservare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6751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multi-agent è davvero giustificato? Un solo agent non bastava?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66751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circolari: A → B → A → B → loop infinito senza stop condition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8412480" cy="66751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54203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condiviso sovrascritto: due agenti modificano la stessa chiave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8412480" cy="66751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33467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34670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duplicati: ogni agente ha gli stessi tool → non c'è specializzazione reale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8412480" cy="66751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15137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calcola token per handoff × numero di turni × prezzo modello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nascosti del Multi-Agent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16459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9319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 = una chiamata LLM separata con il proprio context window completo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3931920" cy="16459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39319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00600" y="804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Serializzazione dello stato introduce latenza a ogni passaggio (1–3 sec)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931920" cy="16459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39319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di correzione tra agent moltiplicano le chiamate in modo non lineare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633472"/>
            <a:ext cx="3931920" cy="164592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663440" y="2633472"/>
            <a:ext cx="39319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00600" y="2633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0906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agent ricarica il proprio prompt + storia: niente condivisione efficiente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Anti-Pattern: 8 agent dove ne bastava 1. Usa multi-agent SOLO se la specializzazione reale riduce il token count totale rispetto a un agent monolitico. Misura sempre cost-per-resolution.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97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day3_multiagent/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examples</a:t>
            </a:r>
          </a:p>
          <a:p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fornisce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556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python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day3_multiagent/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supervisor.py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manual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"Mostrami INC-1002 e proponi azione"</a:t>
            </a:r>
          </a:p>
          <a:p>
            <a:b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</a:b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→ in modalità 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manual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viene eseguito codice che simula l’attività di 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LangGraph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1168" y="241401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682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opzionale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) python day3_multiagent/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supervisor.py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manual "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Mostrami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INC-1002 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proponi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azione" --verbose</a:t>
            </a:r>
          </a:p>
          <a:p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→ --verbose vi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restituisce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l’output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complete; NB: I JSON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vengono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dumpati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in un folder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dedicato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" y="30723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266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python day3_multiagent/</a:t>
            </a:r>
            <a:r>
              <a:rPr lang="en-US" sz="1300" b="1" dirty="0" err="1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supervisor.py</a:t>
            </a:r>
            <a: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graph "</a:t>
            </a:r>
            <a:r>
              <a:rPr lang="en-US" sz="1300" b="1" dirty="0" err="1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Mostrami</a:t>
            </a:r>
            <a: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INC-1002 e </a:t>
            </a:r>
            <a:r>
              <a:rPr lang="en-US" sz="1300" b="1" dirty="0" err="1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proponi</a:t>
            </a:r>
            <a: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azione”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I prompt 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provate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tool di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day3_multiagent/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 "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INC-1002 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azione" --fast</a:t>
            </a:r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con –fast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1168" y="3730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85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en-US" sz="1300" b="1" dirty="0"/>
            </a:br>
            <a:r>
              <a:rPr lang="en-US" sz="1300" b="1" dirty="0"/>
              <a:t>(</a:t>
            </a:r>
            <a:r>
              <a:rPr lang="en-US" sz="1300" b="1" dirty="0" err="1"/>
              <a:t>costo</a:t>
            </a:r>
            <a:r>
              <a:rPr lang="en-US" sz="1300" b="1" dirty="0"/>
              <a:t> </a:t>
            </a:r>
            <a:r>
              <a:rPr lang="en-US" sz="1300" b="1" dirty="0" err="1"/>
              <a:t>reale</a:t>
            </a:r>
            <a:r>
              <a:rPr lang="en-US" sz="1300" b="1" dirty="0"/>
              <a:t> – NB: </a:t>
            </a:r>
            <a:r>
              <a:rPr lang="en-US" sz="1300" b="1" dirty="0" err="1">
                <a:highlight>
                  <a:srgbClr val="FFFF00"/>
                </a:highlight>
              </a:rPr>
              <a:t>sostituire</a:t>
            </a:r>
            <a:r>
              <a:rPr lang="en-US" sz="1300" b="1" dirty="0">
                <a:highlight>
                  <a:srgbClr val="FFFF00"/>
                </a:highlight>
              </a:rPr>
              <a:t> JSON</a:t>
            </a:r>
            <a:r>
              <a:rPr lang="en-US" sz="1300" b="1" dirty="0"/>
              <a:t>) python day3_multiagent/</a:t>
            </a:r>
            <a:r>
              <a:rPr lang="en-US" sz="1300" b="1" dirty="0" err="1"/>
              <a:t>supervisor.py</a:t>
            </a:r>
            <a:r>
              <a:rPr lang="en-US" sz="1300" b="1" dirty="0"/>
              <a:t> cost-from-run runs/day3_multiagent/</a:t>
            </a:r>
            <a:r>
              <a:rPr lang="en-US" sz="1300" b="1" dirty="0">
                <a:highlight>
                  <a:srgbClr val="FFFF00"/>
                </a:highlight>
              </a:rPr>
              <a:t>graph_20260512_235914_f8fcaca5.json</a:t>
            </a:r>
            <a:r>
              <a:rPr lang="en-US" sz="1300" b="1" dirty="0"/>
              <a:t> </a:t>
            </a:r>
          </a:p>
          <a:p>
            <a:r>
              <a:rPr lang="en-US" sz="1300" b="1" dirty="0"/>
              <a:t>→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01168" y="4526280"/>
            <a:ext cx="86868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funzionante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9389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N×M — senza standard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47336" y="733932"/>
            <a:ext cx="4114800" cy="3931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MCP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1325880"/>
            <a:ext cx="128016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92608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1920240"/>
            <a:ext cx="128016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9260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writeDB()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2514600"/>
            <a:ext cx="128016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integrazioni puntuali da mantenere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team reinventa il proprio wrapper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114800" cy="3931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84632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MCP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32588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80060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192024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8006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514600"/>
            <a:ext cx="10972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480060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1325880"/>
            <a:ext cx="1280160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263640" y="1828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09560" y="1325880"/>
            <a:ext cx="7315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790956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09560" y="1920240"/>
            <a:ext cx="7315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790956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writeDB()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9560" y="2514600"/>
            <a:ext cx="7315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790956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notify()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interfaccia standard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riusabile su N agent senza riscrivere nulla</a:t>
            </a:r>
            <a:endParaRPr lang="en-US" sz="1200" dirty="0"/>
          </a:p>
        </p:txBody>
      </p:sp>
      <p:sp>
        <p:nvSpPr>
          <p:cNvPr id="57" name="Freccia a destra 56">
            <a:extLst>
              <a:ext uri="{FF2B5EF4-FFF2-40B4-BE49-F238E27FC236}">
                <a16:creationId xmlns:a16="http://schemas.microsoft.com/office/drawing/2014/main" id="{6BB45C2E-9CCE-1406-66EB-67F78C37C2E3}"/>
              </a:ext>
            </a:extLst>
          </p:cNvPr>
          <p:cNvSpPr/>
          <p:nvPr/>
        </p:nvSpPr>
        <p:spPr>
          <a:xfrm>
            <a:off x="5959352" y="1371600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Freccia a destra 57">
            <a:extLst>
              <a:ext uri="{FF2B5EF4-FFF2-40B4-BE49-F238E27FC236}">
                <a16:creationId xmlns:a16="http://schemas.microsoft.com/office/drawing/2014/main" id="{B9FA1356-7D0B-5465-573E-7472150C0BF1}"/>
              </a:ext>
            </a:extLst>
          </p:cNvPr>
          <p:cNvSpPr/>
          <p:nvPr/>
        </p:nvSpPr>
        <p:spPr>
          <a:xfrm>
            <a:off x="7607035" y="1371600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Freccia a destra 58">
            <a:extLst>
              <a:ext uri="{FF2B5EF4-FFF2-40B4-BE49-F238E27FC236}">
                <a16:creationId xmlns:a16="http://schemas.microsoft.com/office/drawing/2014/main" id="{6A438A1D-E98A-3212-7F17-A14ECD32F079}"/>
              </a:ext>
            </a:extLst>
          </p:cNvPr>
          <p:cNvSpPr/>
          <p:nvPr/>
        </p:nvSpPr>
        <p:spPr>
          <a:xfrm>
            <a:off x="7598562" y="1984249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Freccia a destra 59">
            <a:extLst>
              <a:ext uri="{FF2B5EF4-FFF2-40B4-BE49-F238E27FC236}">
                <a16:creationId xmlns:a16="http://schemas.microsoft.com/office/drawing/2014/main" id="{1017622E-462B-833E-C3DB-86D45AF82896}"/>
              </a:ext>
            </a:extLst>
          </p:cNvPr>
          <p:cNvSpPr/>
          <p:nvPr/>
        </p:nvSpPr>
        <p:spPr>
          <a:xfrm>
            <a:off x="7589520" y="2589129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Freccia a destra 60">
            <a:extLst>
              <a:ext uri="{FF2B5EF4-FFF2-40B4-BE49-F238E27FC236}">
                <a16:creationId xmlns:a16="http://schemas.microsoft.com/office/drawing/2014/main" id="{CB42681D-9ABB-0E8E-980A-94834D3CBC97}"/>
              </a:ext>
            </a:extLst>
          </p:cNvPr>
          <p:cNvSpPr/>
          <p:nvPr/>
        </p:nvSpPr>
        <p:spPr>
          <a:xfrm>
            <a:off x="5959352" y="1980837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Freccia a destra 61">
            <a:extLst>
              <a:ext uri="{FF2B5EF4-FFF2-40B4-BE49-F238E27FC236}">
                <a16:creationId xmlns:a16="http://schemas.microsoft.com/office/drawing/2014/main" id="{5DFBBE1C-F29E-7EB0-2063-68D10EFE2E06}"/>
              </a:ext>
            </a:extLst>
          </p:cNvPr>
          <p:cNvSpPr/>
          <p:nvPr/>
        </p:nvSpPr>
        <p:spPr>
          <a:xfrm>
            <a:off x="5959352" y="2589129"/>
            <a:ext cx="258568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4F898FCD-B056-165D-FD67-7CC0D7ED4F5E}"/>
              </a:ext>
            </a:extLst>
          </p:cNvPr>
          <p:cNvCxnSpPr/>
          <p:nvPr/>
        </p:nvCxnSpPr>
        <p:spPr>
          <a:xfrm>
            <a:off x="1710519" y="1554480"/>
            <a:ext cx="11100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F181106-8425-A491-9E1A-C9B012B6016D}"/>
              </a:ext>
            </a:extLst>
          </p:cNvPr>
          <p:cNvCxnSpPr/>
          <p:nvPr/>
        </p:nvCxnSpPr>
        <p:spPr>
          <a:xfrm>
            <a:off x="1710519" y="2164627"/>
            <a:ext cx="11100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65">
            <a:extLst>
              <a:ext uri="{FF2B5EF4-FFF2-40B4-BE49-F238E27FC236}">
                <a16:creationId xmlns:a16="http://schemas.microsoft.com/office/drawing/2014/main" id="{9394EC9A-3CC3-2E2B-C0CA-8C7DABFFD7AF}"/>
              </a:ext>
            </a:extLst>
          </p:cNvPr>
          <p:cNvCxnSpPr/>
          <p:nvPr/>
        </p:nvCxnSpPr>
        <p:spPr>
          <a:xfrm>
            <a:off x="1710519" y="2772009"/>
            <a:ext cx="11100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029A95DD-0196-7187-C016-8D0F49C7AD11}"/>
              </a:ext>
            </a:extLst>
          </p:cNvPr>
          <p:cNvCxnSpPr>
            <a:cxnSpLocks/>
          </p:cNvCxnSpPr>
          <p:nvPr/>
        </p:nvCxnSpPr>
        <p:spPr>
          <a:xfrm>
            <a:off x="1710974" y="1677913"/>
            <a:ext cx="1109563" cy="3923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C2E3760F-AB8B-7608-44F7-F5D6C06036A2}"/>
              </a:ext>
            </a:extLst>
          </p:cNvPr>
          <p:cNvCxnSpPr>
            <a:cxnSpLocks/>
          </p:cNvCxnSpPr>
          <p:nvPr/>
        </p:nvCxnSpPr>
        <p:spPr>
          <a:xfrm>
            <a:off x="1698350" y="1767072"/>
            <a:ext cx="1122187" cy="7827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E314A788-8561-3901-1438-DA1282FCD3F2}"/>
              </a:ext>
            </a:extLst>
          </p:cNvPr>
          <p:cNvCxnSpPr>
            <a:cxnSpLocks/>
          </p:cNvCxnSpPr>
          <p:nvPr/>
        </p:nvCxnSpPr>
        <p:spPr>
          <a:xfrm>
            <a:off x="1691640" y="2019641"/>
            <a:ext cx="1122642" cy="641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CEF3FCF2-D196-A855-D9BA-6152AE8AB545}"/>
              </a:ext>
            </a:extLst>
          </p:cNvPr>
          <p:cNvCxnSpPr>
            <a:cxnSpLocks/>
          </p:cNvCxnSpPr>
          <p:nvPr/>
        </p:nvCxnSpPr>
        <p:spPr>
          <a:xfrm flipV="1">
            <a:off x="1715126" y="1745264"/>
            <a:ext cx="1151586" cy="940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19D4DFA3-3DCB-8391-2171-5BA947B8E5C9}"/>
              </a:ext>
            </a:extLst>
          </p:cNvPr>
          <p:cNvCxnSpPr>
            <a:cxnSpLocks/>
          </p:cNvCxnSpPr>
          <p:nvPr/>
        </p:nvCxnSpPr>
        <p:spPr>
          <a:xfrm flipV="1">
            <a:off x="1711998" y="2266677"/>
            <a:ext cx="1102284" cy="3210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E3D70E21-E2C4-997C-43FA-B91EF9B27041}"/>
              </a:ext>
            </a:extLst>
          </p:cNvPr>
          <p:cNvCxnSpPr>
            <a:cxnSpLocks/>
          </p:cNvCxnSpPr>
          <p:nvPr/>
        </p:nvCxnSpPr>
        <p:spPr>
          <a:xfrm flipV="1">
            <a:off x="1718481" y="1670212"/>
            <a:ext cx="1115704" cy="552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</a:t>
            </a:r>
            <a:r>
              <a:rPr lang="en-US" sz="24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aperto, JSON-RPC 2.0, per esporre tool, risorse e prompt a un LLM in modo standard, indipendente dal modello e dal runtime.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Nov 2024. Specifica open su modelcontextprotocol.io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Trasporto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624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su stdio (locale) o HTTP+SSE (remoto). Nessun formato proprietario.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8412480" cy="6400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3374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primitive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3741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(azioni), resources (contesto), prompts (template parametrici)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32504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4123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framework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41239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sostituisce LangGraph/CrewAI. È il livello sotto: come i tool vengono trovati e chiamati.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ruoli MCP — Host, Client, Server, 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1691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3931920" cy="47548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813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che ospita l'LLM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Cursor, il tuo agent LangGraph. Decide a quali server connettersi e mostra il risultato all'utente.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3931920" cy="1691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39319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00600" y="813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252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dentro l'host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58191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la connessione, parla JSON-RPC col server (initialize, list_tools, call_tool). Nasconde i dettagli del transport.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3931920" cy="1691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3931920" cy="4754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2920" y="2734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che espone capability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FastMCP, server custom. È il componente che scriverai. Riceve richieste JSON-RPC e risponde con tool, resources o prompts.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3931920" cy="16916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3931920" cy="47548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800600" y="2734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172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esposta dal server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5021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search_kb, create_ticket, query_db… Ha name, description, inputSchema e handler. La description è ciò che legge l'LLM.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48640" y="4654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Confusione comune: "MCP server" non è il modello LLM. È il processo che espone i tool.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stdio vs HTTP/SSE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8138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— locale, sviluppo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L'host avvia il server come processo figlio. Richieste su stdin, risposte su stdout, log su stderr.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 di rete, sicurezza implicita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Ottimo per sviluppo e test locali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server per host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scala su più client né oltre la macchina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00600" y="8138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HTTP/SSE (o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HTTP) — remoto, produzione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280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raggiungibile via URL. Request su POST, notifiche server→client su Server-Sent Events. Stessa interfaccia dello stdio.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Multi-client, scalabile, accessibile da agent diversi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web noto: TLS, auth, gateway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Contro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337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di rete e sicurezza non banale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rate-limit, observability a carico tuo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il cofano — JSON-RPC 2.0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usa JSON-RPC 2.0 come wire protocol. Tre campi chiave: method, params, id. Le notifiche non hanno id e viaggiano senza risposta.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dei tool disponibili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Invocazione con argomenti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di risorse/file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prompts/list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di template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notifications/*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async senza risposta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Request: tools/call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"jsonrpc": "2.0",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42,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"tools/call",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"search_kb",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"arguments": {"query":"VPN reset"}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"jsonrpc": "2.0",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42,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{"type":"text",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"text":"Per resettare la VPN…"}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"isError":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MCP — initialize → discovery → call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65960" cy="3200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05840" y="8686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Handshake. Si scambiano versione protocollo, capability, info implementazione.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920240"/>
            <a:ext cx="0" cy="27432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514600" y="777240"/>
            <a:ext cx="1965960" cy="3200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154680" y="8686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15468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627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 chiede l'elenco dei tool. Riceve name, description, inputSchema.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0" cy="27432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1965960" cy="3200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303520" y="8686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627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tools/call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 invoca un tool con argomenti. Il server esegue e restituisce content.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1920240"/>
            <a:ext cx="0" cy="27432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812280" y="777240"/>
            <a:ext cx="1965960" cy="32004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7452360" y="8686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45236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1627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14884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ordinata della connessione. Il server libera le risorse.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48640" y="4233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vita della connessione il server può inviare notifiche al client (cambio lista tool, log) e il client può cancellare richieste in volo via notifications/cancelled.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— la primitiva fondamentale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566928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0" y="850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850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Identificatore univoco nel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libero: è ciò che legge l'LLM per decidere se chiamarlo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93976"/>
            <a:ext cx="4114800" cy="566928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inputSchema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167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dei parametri (auto-generato dai type hints)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8254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funzione Python che esegue l'azione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411480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description chiara + esempi nel docstring = differenza tra tool usato e tool ignorato dall'LLM.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"search_kb",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"Cerca nella KB ITSM.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 quando l'utente chiede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policy, procedure, config.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Esempio: 'come resetto VPN'.",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"inputSchema":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"query":  {"type":"string",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"description":"domanda"},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"top_k":  {"type":"integer",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"default": 3,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"minimum":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"maximum": 10}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["query"]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altre primitive — Resources &amp; Prompts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8138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Dati passivi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documenti, dump, blob. Il client li legge come contesto senza eseguire codice.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files://reports/2026-Q1.pdf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https://kb.acme.com/policy/vpn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postgres://prod/customers/42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 l'agent ha bisogno di leggere, non di agire.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00600" y="8138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— Template parametrici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Frammenti di prompt riusabili, esposti dal server come funzioni parametrizzate.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summarize_ticket(ticket_id)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incident_postmortem(incident_id)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triage_email(subject, body)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108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 lo stesso pattern di prompt serve a più agent.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— il tuo primo server MCP in 20 righe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1" y="1450529"/>
            <a:ext cx="4114800" cy="8046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1" y="1505393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1" y="183457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 una funzione Python in tool MCP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1" y="2364929"/>
            <a:ext cx="4114800" cy="8046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1" y="2419793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automatico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1" y="274897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→ JSON Schema dei parametri. Docstring → description.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1" y="3279329"/>
            <a:ext cx="4114800" cy="804672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1" y="3334193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 → HTTP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1" y="366337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solo .run('http'). Il codice del tool è identico.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54880" y="1056132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mcp_server.py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kb import retrieve, format_results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FastMCP('hcl-itsm-server')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search_kb(query: str, top_k: int = 3) -&gt; str: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"""Cerca nella KB ITSM.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 per policy, procedure, configurazioni.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Esempio: 'come resetto la VPN'."""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format_results(retrieve(query, top_k))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lookup_ticket(ticket_id: str) -&gt; dict: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"""Recupera i dettagli di un ticket ITSM."""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itsm.get(ticket_id)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'__main__':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mcp.run()         # stdio (sviluppo)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mcp.run('http') # HTTP  (produzione)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— la sessione in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ClientSession gestisce il ciclo di vita completo: initialize, discovery, call. Nasconde i dettagli del trasporto.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s.initialize()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col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s.list_tools()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elenco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s.call_tool(name, args)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un tool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s.list_resources()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risorse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14800" cy="41148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s.list_prompts()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template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2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54882" y="1223294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 import ClientSession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mcp.client.stdio import stdio_client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stdio_client(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command='python',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args=['mcp_server.py']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(read, write):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ClientSession(read, write) as 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s.initialize()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discovery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 = await s.list_tools()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 in tools.tools: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print(t.name, t.description)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invocazione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await s.call_tool(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'search_kb', {'query':'VPN reset'})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print(result.content)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MCPAdapter simulato — per test e lab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1" y="1318465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interfaccia di un server MCP reale, ma in-process. Niente JSON-RPC, niente subprocess.</a:t>
            </a:r>
            <a:endParaRPr lang="en-US" sz="1300" b="1" dirty="0"/>
          </a:p>
        </p:txBody>
      </p:sp>
      <p:sp>
        <p:nvSpPr>
          <p:cNvPr id="6" name="Text 4"/>
          <p:cNvSpPr/>
          <p:nvPr/>
        </p:nvSpPr>
        <p:spPr>
          <a:xfrm>
            <a:off x="365761" y="198597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dell'agent senza spawn di processi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1" y="248889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Laboratori, per concentrarsi sull'integrazione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1" y="299181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evitare flakiness di rete/IPC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1" y="349473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firma (register, list, call): passare al server reale cambia 3 righe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mcp_adapter.py — stessa interfaccia, in-process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Callable, Any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MCPAdapter: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self.tools: dict[str, dict] = {}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register(self, name, fn, description,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input_schema):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self.tools[name]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'fn': fn,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'description': description,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'inputSchema': input_schema,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list_tools(self) -&gt; list[dict]: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[{'name': n, **v}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n, v in self.tools.items()]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call_tool(self, name, **kwargs) -&gt; Any: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self.tools[name]['fn'](**kwargs)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MCP in un agent LangGraph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103163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KnowledgeAgent non sa più com'è implementato search_kb: vede solo una lista di BaseTool con schema. Il server può cambiare implementazione senza toccare l'agent.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365760" y="215634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21563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8377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la sessione MCP (stdio o HTTP)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5070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5760" y="275070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77813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i tool con list_tools()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4506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5760" y="334506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37249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Wrappali come LangChain BaseTool e passali al modello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langchain_mcp_adapters import load_mcp_tools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mcp.client.stdio import stdio_client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 import ClientSession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build_knowledge_agent():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stdio_client(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command='python',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args=['mcp_server.py']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(r, w):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with ClientSession(r, w) as sess: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sess.initialize()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tools = await load_mcp_tools(sess)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tools è list[BaseTool]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create_react_agent(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llm, tools,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state_modifier=KB_SYSTEM_PROMPT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adapter simulato (stessa firma):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[BaseTool(name=t['name'],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description=t['description'],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func=lambda **kw: adapter.call_tool(...)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) for t in adapter.list_tools()]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MCP pubblici &amp; quando crearne uno custom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81957"/>
            <a:ext cx="4114800" cy="27432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981957"/>
            <a:ext cx="41148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018533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pubblici utili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915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 accesso file locale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5063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issue, PR,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6211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query SQL strutturate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7359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S3, Lambda, Bedrock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8507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notifiche e approvazioni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81957"/>
            <a:ext cx="4114800" cy="274320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663440" y="981957"/>
            <a:ext cx="411480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00600" y="1018533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crearne uno custom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39157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SAP, ServiceNow, sistemi HR interni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942077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Esporre API proprietarie con schema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444997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Isolare dominio business in server dedicato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08037"/>
            <a:ext cx="841248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397204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Framework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0122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langchain-mcp-adapters  |  Java/Quarkus: quarkus-langchain4j-mcp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7554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chiave: stesso server MCP funziona con Claude, Gemini, Quarkus o qualsiasi client. Interoperabilità linguaggio-agnostica.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 produzione —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82880" cy="1234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scoping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161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per client. Ogni token ha solo i tool di cui ha bisogno. Niente 'admin' di default.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182880" cy="1234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83480" y="850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input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161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schema JSON è il primo firewall. Aggiungi controlli semantici (lunghezza, range, regex).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182880" cy="1234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" y="2221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&amp; timeout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587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 e per tool. Un LLM in loop può chiamare 100 volte/sec senza accorgersene.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709160" y="2148840"/>
            <a:ext cx="182880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983480" y="2221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587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Loggare: client_id, tool, latenza, esito. Trace ID propagato dall'host fino al tool.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182880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0080" y="3593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 chiari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959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 effetti scritti nella description. L'LLM deve sapere che 'delete_ticket' è distruttivo.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3977640" cy="123444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182880" cy="12344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983480" y="3593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959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 al inputSchema = breaking change. Versiona i tool (search_kb.v2) e depreca con eleganza.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 — MCP Server &amp; Integrazione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 — MCP Server &amp; Integrazione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8503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8503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con 1–2 tool del tuo dominio usando FastMCP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481328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5760" y="14813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1508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 &amp; Ispeziona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15087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 in stdio e ispeziona via mcp dev / inspector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139696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5760" y="2139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21671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21671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una ClientSession dal tuo agent LangGraph del mattino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98064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27980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28254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282549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 i tool Python locali con i tool MCP scoperti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65760" y="34564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483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48386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client_id, tool name, durata, esito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9144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6576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1422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80360" y="41422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.run() in HTTP e ripeti il test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4864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Deliverable: day3_multiagent/supervisor.py + mcp_server.py + diagramma architettura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&amp; Takeaway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Takeaway del Giorno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207008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502920" cy="1207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handoff ha un costo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527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è potente ma ogni chiamata LLM aggiuntiva moltiplica token e latenza. Valuta SEMPRE cost-per-resolution prima e dopo.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1207008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1207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standardizza l'accesso ai tool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243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server MCP funziona con qualsiasi agent su qualsiasi runtime. Separa il tool dall'implementazione e lo rende riusabile.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207008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502920" cy="12070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= chiarezza + debug praticabile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pattern supervisor rende il routing esplicito, testabile e tracciabile. È il default corretto in produzione.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4 — Preview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multi-agent diventa un servizio REST production-like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15087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supervisor LangGraph esposto come endpoint 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15087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avanzato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OpenTelemetry, trace ID end-to-end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5087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126480" y="1417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input/output, rate limiting, circuit breaker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06040" cy="15087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token / costo per request in real-time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606040" cy="1508760"/>
          </a:xfrm>
          <a:prstGeom prst="rect">
            <a:avLst/>
          </a:prstGeom>
          <a:solidFill>
            <a:srgbClr val="F1F0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200400" y="3063240"/>
            <a:ext cx="260604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5204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 + Cloud Run / ECS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4542</Words>
  <Application>Microsoft Macintosh PowerPoint</Application>
  <PresentationFormat>Presentazione su schermo (16:9)</PresentationFormat>
  <Paragraphs>724</Paragraphs>
  <Slides>42</Slides>
  <Notes>42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3 · Multi-Agent &amp; MCP</dc:title>
  <dc:subject>PptxGenJS Presentation</dc:subject>
  <dc:creator>HCLTech</dc:creator>
  <cp:lastModifiedBy>Microsoft Office User</cp:lastModifiedBy>
  <cp:revision>6</cp:revision>
  <dcterms:created xsi:type="dcterms:W3CDTF">2026-05-12T11:59:41Z</dcterms:created>
  <dcterms:modified xsi:type="dcterms:W3CDTF">2026-05-13T12:09:53Z</dcterms:modified>
</cp:coreProperties>
</file>