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9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27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2560320" cy="256032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GEN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RAG ad Agent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Tool Use &amp; LangGraph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2  -  Sviluppo di Applicazioni GenAI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82880" y="47594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- Giorno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1965960" cy="16002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09:00 - 10:45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3898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+ Tool Use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04288" y="1005840"/>
            <a:ext cx="1965960" cy="16002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395728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10:45 - 13:00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5728" y="13898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 Agent ITSM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1005840"/>
            <a:ext cx="1965960" cy="16002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498848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14:00 - 15:30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98848" y="13898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+ Nodi + HITL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10528" y="1005840"/>
            <a:ext cx="1965960" cy="16002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601968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15:30 - 18:00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138988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LangGraph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1168" y="2834640"/>
            <a:ext cx="8759952" cy="166420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del giorno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218688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AI Agent e perche e diverso da RAG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tool calling con @tool decorator e schema JSON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agent loop con LangGraph (State, Nodi, Router)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errori, checkpoint e pattern Human-in-the-Loop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Giorno 1 - Cosa Abbiamo in Mano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11480" cy="41148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funzionante: documenti -&gt; chunk -&gt; embed -&gt; Chroma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73936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1168" y="1773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retrieve(question) -&gt; top-3 chunk semanticamente pertinenti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432304"/>
            <a:ext cx="411480" cy="41148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3682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answer(question) -&gt; build_prompt() -&gt; call_llm() -&gt; risposta con fonti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309067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266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qa_log.md: traccia delle risposte, base per il debugging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7490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685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risposta singola, nessuna azione esterna, nessuna memoria tra turni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trasformiamo la pipeline RAG in un agent che agisce, decide e usa tool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Cos’è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AI Agent?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388148"/>
            <a:ext cx="4160520" cy="9144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3881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autonomo che percepisce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l'ambiente, ragiona e agisce per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raggiungere un obiettivo.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2766060"/>
            <a:ext cx="3665425" cy="1541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solo generazione di testo: esegue azioni nel mondo reale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continuo: osserva -&gt; ragiona -&gt; agisce -&gt; osserva di nuovo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persistente: ricorda le azioni dei turni precedenti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Puo coordinare altri agent in sistemi multi-agent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526280" y="1024128"/>
            <a:ext cx="822960" cy="60350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26280" y="102412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67528" y="1051560"/>
            <a:ext cx="35661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58968" y="1051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input: messaggi, query, eventi, sensori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773936"/>
            <a:ext cx="822960" cy="60350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26280" y="177393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67528" y="1801368"/>
            <a:ext cx="35661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58968" y="1801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corrente, history, vector store, scratchpad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523744"/>
            <a:ext cx="822960" cy="6035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526280" y="252374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67528" y="2551176"/>
            <a:ext cx="35661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58968" y="25511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 cosa fare e come farlo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273552"/>
            <a:ext cx="822960" cy="6035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526280" y="327355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67528" y="3300984"/>
            <a:ext cx="35661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458968" y="33009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 tool, scrive su DB, chiama API esterne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4023360"/>
            <a:ext cx="822960" cy="6035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526280" y="402336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67528" y="4050792"/>
            <a:ext cx="35661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458968" y="4050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a lungo termine, sub-task,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 gli Agenti AI Sono Importanti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92608" y="1317282"/>
            <a:ext cx="2743200" cy="12801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92608" y="1317282"/>
            <a:ext cx="2743200" cy="292608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135385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Automazione 24/7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6475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Eseguono task ripetitivi senza supervisione continua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317282"/>
            <a:ext cx="2743200" cy="12801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172968" y="1317282"/>
            <a:ext cx="2743200" cy="292608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64408" y="135385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 Complessa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66475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Coordinano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API e sorgenti in sequenza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1317282"/>
            <a:ext cx="2743200" cy="12801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053328" y="1317282"/>
            <a:ext cx="2743200" cy="292608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144768" y="135385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Sistemi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66475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Connettono LLM a DB, REST API, code base, cloud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" y="2780322"/>
            <a:ext cx="2743200" cy="12801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92608" y="2780322"/>
            <a:ext cx="2743200" cy="29260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84048" y="281689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Autonome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12779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Scelgono il percorso giusto senza if/else hardcoded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72968" y="2780322"/>
            <a:ext cx="2743200" cy="128016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172968" y="2780322"/>
            <a:ext cx="2743200" cy="292608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264408" y="281689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 Tracciabilita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12779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e azione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loggata e riproducibile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53328" y="2780322"/>
            <a:ext cx="2743200" cy="12801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053328" y="2780322"/>
            <a:ext cx="2743200" cy="29260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144768" y="281689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312779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 in parallelo = N operatori virtuali istantanei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reali: ITSM autonomo, code review, data pipeline, customer support, report automatici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Tassonomia degli Agenti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1371600" cy="8686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241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1051560"/>
            <a:ext cx="3566160" cy="8138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19072" y="1078992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funziona: Alterna Reasoning e Action in loop: Thought -&gt; Action -&gt; Observation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051560"/>
            <a:ext cx="3675888" cy="81381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358384" y="1078992"/>
            <a:ext cx="34930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Q&amp;A con ricerca, analisi documenti, assistant generale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965960"/>
            <a:ext cx="1371600" cy="8686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27632" y="1993392"/>
            <a:ext cx="3566160" cy="8138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719072" y="2020824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funziona: LLM sceglie e chiama funzioni da un catalogo di tool disponibili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66944" y="1993392"/>
            <a:ext cx="3675888" cy="81381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358384" y="2020824"/>
            <a:ext cx="34930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Integrazione API, ITSM, CRM, operazioni su 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907792"/>
            <a:ext cx="1371600" cy="8686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2907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27632" y="2935224"/>
            <a:ext cx="3566160" cy="8138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719072" y="2962656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funziona: Planner genera lista di step, Executor li esegue in sequenza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66944" y="2935224"/>
            <a:ext cx="3675888" cy="81381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358384" y="2962656"/>
            <a:ext cx="34930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Task complessi multi-step, ricerca estesa, generazione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849624"/>
            <a:ext cx="137160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01168" y="384962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27632" y="3877056"/>
            <a:ext cx="3566160" cy="8138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719072" y="3904488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funziona: Supervisor coordina agent specializzati che collaborano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66944" y="3877056"/>
            <a:ext cx="3675888" cy="81381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58384" y="3904488"/>
            <a:ext cx="34930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Pipeline enterprise, QA automatico, sistemi distribuiti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Loop Agente: Come Ragiona e Agisce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167128" y="1381881"/>
            <a:ext cx="1691640" cy="7772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167128" y="138188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Percezione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67128" y="1711065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messaggi,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eventi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23360" y="2355149"/>
            <a:ext cx="1691640" cy="7772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023360" y="2355149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Ragionamento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2684333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 risposta?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67128" y="3321000"/>
            <a:ext cx="1691640" cy="7772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167128" y="3321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Azione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67128" y="3650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tool,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 API,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" y="2350827"/>
            <a:ext cx="1691640" cy="77724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5176" y="2350827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Osservazione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" y="2680011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risultato,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stato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95728" y="2387721"/>
            <a:ext cx="1188720" cy="731520"/>
          </a:xfrm>
          <a:prstGeom prst="ellipse">
            <a:avLst/>
          </a:prstGeom>
          <a:solidFill>
            <a:srgbClr val="F59E0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395728" y="2387721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(Memory)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84248" y="373248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925312" y="1791724"/>
            <a:ext cx="2864528" cy="229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loop termina quando il LLM produce una risposta senza tool call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persiste tra i passi: memoria di lavoro dell'agent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Osservazione alimenta il Ragionamento del passo successivo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iterations: safety limit per evitare loop infiniti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struttura questo loop in una state machine esplicita</a:t>
            </a:r>
            <a:endParaRPr lang="en-US" sz="1200" b="1" dirty="0"/>
          </a:p>
        </p:txBody>
      </p:sp>
      <p:sp>
        <p:nvSpPr>
          <p:cNvPr id="26" name="Freccia curva 25">
            <a:extLst>
              <a:ext uri="{FF2B5EF4-FFF2-40B4-BE49-F238E27FC236}">
                <a16:creationId xmlns:a16="http://schemas.microsoft.com/office/drawing/2014/main" id="{EADE09B6-FA5B-2C66-90B9-7CA4E8C9D586}"/>
              </a:ext>
            </a:extLst>
          </p:cNvPr>
          <p:cNvSpPr/>
          <p:nvPr/>
        </p:nvSpPr>
        <p:spPr>
          <a:xfrm rot="16200000">
            <a:off x="1244930" y="2852175"/>
            <a:ext cx="637164" cy="1207236"/>
          </a:xfrm>
          <a:prstGeom prst="bentArrow">
            <a:avLst>
              <a:gd name="adj1" fmla="val 25000"/>
              <a:gd name="adj2" fmla="val 25502"/>
              <a:gd name="adj3" fmla="val 25000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7" name="Freccia curva 26">
            <a:extLst>
              <a:ext uri="{FF2B5EF4-FFF2-40B4-BE49-F238E27FC236}">
                <a16:creationId xmlns:a16="http://schemas.microsoft.com/office/drawing/2014/main" id="{D59F3877-330A-585E-F7A9-C6F1FD2711E8}"/>
              </a:ext>
            </a:extLst>
          </p:cNvPr>
          <p:cNvSpPr/>
          <p:nvPr/>
        </p:nvSpPr>
        <p:spPr>
          <a:xfrm rot="5400000">
            <a:off x="4143804" y="1429196"/>
            <a:ext cx="637164" cy="1207236"/>
          </a:xfrm>
          <a:prstGeom prst="bentArrow">
            <a:avLst>
              <a:gd name="adj1" fmla="val 25000"/>
              <a:gd name="adj2" fmla="val 25502"/>
              <a:gd name="adj3" fmla="val 25000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8" name="Freccia curva 27">
            <a:extLst>
              <a:ext uri="{FF2B5EF4-FFF2-40B4-BE49-F238E27FC236}">
                <a16:creationId xmlns:a16="http://schemas.microsoft.com/office/drawing/2014/main" id="{1E43EB8C-A6AF-26A7-D0D8-55F76CFE5CA0}"/>
              </a:ext>
            </a:extLst>
          </p:cNvPr>
          <p:cNvSpPr/>
          <p:nvPr/>
        </p:nvSpPr>
        <p:spPr>
          <a:xfrm rot="10800000">
            <a:off x="3858767" y="3137211"/>
            <a:ext cx="1136313" cy="732429"/>
          </a:xfrm>
          <a:prstGeom prst="bentArrow">
            <a:avLst>
              <a:gd name="adj1" fmla="val 25000"/>
              <a:gd name="adj2" fmla="val 24914"/>
              <a:gd name="adj3" fmla="val 25000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la RAG Non Basta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406908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453128" y="1005840"/>
            <a:ext cx="4489704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- risponde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44568" y="1005840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- agisce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481328"/>
            <a:ext cx="40690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453128" y="1481328"/>
            <a:ext cx="4489704" cy="51206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148132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singola da documenti statici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1481328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 E agisce: apre ticket, invia email, scrive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048256"/>
            <a:ext cx="4069080" cy="512064"/>
          </a:xfrm>
          <a:prstGeom prst="rect">
            <a:avLst/>
          </a:prstGeom>
          <a:solidFill>
            <a:srgbClr val="EFF7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53128" y="2048256"/>
            <a:ext cx="4489704" cy="512064"/>
          </a:xfrm>
          <a:prstGeom prst="rect">
            <a:avLst/>
          </a:prstGeom>
          <a:solidFill>
            <a:srgbClr val="D4F0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92608" y="204825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ricorda i turni precedenti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44568" y="2048256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persistente tra turni (state + scratchpad)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615184"/>
            <a:ext cx="40690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453128" y="2615184"/>
            <a:ext cx="4489704" cy="51206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92608" y="26151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eseguire azioni esterne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44568" y="2615184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 tool: API REST, SQL, file system, calcolatori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3182112"/>
            <a:ext cx="4069080" cy="512064"/>
          </a:xfrm>
          <a:prstGeom prst="rect">
            <a:avLst/>
          </a:prstGeom>
          <a:solidFill>
            <a:srgbClr val="EFF7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453128" y="3182112"/>
            <a:ext cx="4489704" cy="512064"/>
          </a:xfrm>
          <a:prstGeom prst="rect">
            <a:avLst/>
          </a:prstGeom>
          <a:solidFill>
            <a:srgbClr val="D4F0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92608" y="31821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lineare: query -&gt; retrieve -&gt; generate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3182112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decisionale: piu passi in base al contesto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749040"/>
            <a:ext cx="40690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453128" y="3749040"/>
            <a:ext cx="4489704" cy="51206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374904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logica condizionale sul risultato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4568" y="3749040"/>
            <a:ext cx="4306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se P1 -&gt; escalation, altrimenti -&gt; risposta normale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pratica: se serve una sola risposta -&gt; RAG. Se serve decidere e agire -&gt; Agent.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/ Function Calling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384048" cy="384048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024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Definisci il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2893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(prompt per il LLM), JSON schema parametri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71907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116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911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 i messaggi e sceglie se chiamare un tool o rispondere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34086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01168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267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 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5328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esegue codice: ritorna {name, args, id} strutturato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2962656"/>
            <a:ext cx="384048" cy="38404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8895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esegue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1546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chiami la funzione Python con gli args ricevuti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358444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0116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511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al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7764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torna come ToolMessage nel thread dei messaggi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572000" y="1051560"/>
            <a:ext cx="429768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search_kb(query: str, top_k: int = 3)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"""Cerca nella KB aziendale.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 per: policy, procedure, documenti.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 per: dati real-time, ticket aperti."""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retrieve(query, top_k)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format_results(results) or 'Nessun risultato'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tools: il LLM vede name + description + schema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llm_tools = llm.bind_tools([search_kb, lookup_record])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ai_msg = llm_tools.invoke(messages)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ai_msg.tool_calls -&gt; [{name, args, id}]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ai_msg.tool_calls: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ai_msg.tool_calls[0]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TOOL_MAP[tc['name']].invoke(tc['args'])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messages.append(ToolMessage(result, tc['id']))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il LLM NON esegue il codice. Decide solo cosa chiamare e con quali argomenti.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Registry: Struttura e Best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92024" y="1440180"/>
            <a:ext cx="3647546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= dizionario {nome: funzione} — il LLM sceglie in base alla description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e il prompt invisibile: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precisa, meglio il LLM usa il tool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Specifica: quando usarlo, quando NON usarlo, formato atteso dei parametri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@tool (LangChain) per generare automaticamente lo schema JSON dai type hints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566160"/>
            <a:ext cx="4160520" cy="822960"/>
          </a:xfrm>
          <a:prstGeom prst="rect">
            <a:avLst/>
          </a:prstGeom>
          <a:solidFill>
            <a:srgbClr val="F59E0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5661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debole: 'Cerca dati'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forte: 'Cerca nella KB ITSM aziendale. Usa per policy, SLA, procedure. NON usare per ticket aperti o dati real-time.'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5204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search_kb(query: str, top_k: int = 3)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"""Cerca KB aziendale. Usa per policy, SLA.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 usare per: ticket aperti, dati live."""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lookup_record(record_id: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"""Recupera ticket per ID (INC-xxxx).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Ritorna: id, priority, elapsed_hours."""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Registry esplicito — lookup dinamico nel 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TOOL_MAP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t.name: t for t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[search_kb, lookup_record, compute_sla]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descrivi il tool come lo descriveresti a un collega che non sa quando usarlo.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Conditions: Quando l'Agent Si Ferma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92608" y="1262600"/>
            <a:ext cx="4160520" cy="1298448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92608" y="1262600"/>
            <a:ext cx="457200" cy="12984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262600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3357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664936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risponde senza chiamare tool: nessun tool_call nel messaggio. Condizione normale di uscita.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1262600"/>
            <a:ext cx="4160520" cy="1298448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636008" y="1262600"/>
            <a:ext cx="457200" cy="12984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36008" y="1262600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4648" y="13357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4648" y="1664936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Raggiunto il limite massimo di passi (es. 10). Protezione contro loop infiniti o costi esplosivi.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2743928"/>
            <a:ext cx="4160520" cy="1298448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92608" y="2743928"/>
            <a:ext cx="457200" cy="12984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2608" y="2743928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2817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Critico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14626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tool fallisce N volte di seguito. L'agent non riesce a procedere: risponde parzialmente.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36008" y="2743928"/>
            <a:ext cx="4160520" cy="1298448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636008" y="2743928"/>
            <a:ext cx="457200" cy="12984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636008" y="2743928"/>
            <a:ext cx="457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84648" y="2817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4648" y="314626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produce un token speciale (es. 'FINAL_ANSWER:') configurato come segnale di terminazione.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Codice: for i in range(max_iter): ...  if not ai_msg.tool_calls: return ai_msg.content  # Final Answer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Loop ReAct: Reason + 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635672" y="1197864"/>
            <a:ext cx="1280160" cy="7315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635672" y="119786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(Ragiona)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00476" y="2368296"/>
            <a:ext cx="1280160" cy="73152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00476" y="236829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(Chiama Tool)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35672" y="3429182"/>
            <a:ext cx="1280160" cy="73152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635672" y="342918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(Risultato)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2601" y="2368296"/>
            <a:ext cx="1280160" cy="73152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202601" y="236829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17987" y="3465576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747755" y="2414016"/>
            <a:ext cx="100584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747755" y="24140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4575" y="1956634"/>
            <a:ext cx="3159903" cy="171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il LLM riflette su cosa fare e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sceglie il tool e i parametri (JSON)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il risultato del tool torna come messaggio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loop si ripete finche arriva Final Answer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visibile nel trace: </a:t>
            </a: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debuggabilità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totale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esce dal loop su: Final Answer / max_iterations / errore critico non recuperabile</a:t>
            </a:r>
            <a:endParaRPr lang="en-US" sz="1100" dirty="0"/>
          </a:p>
        </p:txBody>
      </p:sp>
      <p:sp>
        <p:nvSpPr>
          <p:cNvPr id="23" name="Freccia curva 22">
            <a:extLst>
              <a:ext uri="{FF2B5EF4-FFF2-40B4-BE49-F238E27FC236}">
                <a16:creationId xmlns:a16="http://schemas.microsoft.com/office/drawing/2014/main" id="{4A1AC014-A5B2-4A5E-BE22-8CD160B48146}"/>
              </a:ext>
            </a:extLst>
          </p:cNvPr>
          <p:cNvSpPr/>
          <p:nvPr/>
        </p:nvSpPr>
        <p:spPr>
          <a:xfrm rot="5400000">
            <a:off x="7037384" y="1362600"/>
            <a:ext cx="884143" cy="1127249"/>
          </a:xfrm>
          <a:prstGeom prst="bentArrow">
            <a:avLst>
              <a:gd name="adj1" fmla="val 13680"/>
              <a:gd name="adj2" fmla="val 20871"/>
              <a:gd name="adj3" fmla="val 20884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4" name="Freccia curva 23">
            <a:extLst>
              <a:ext uri="{FF2B5EF4-FFF2-40B4-BE49-F238E27FC236}">
                <a16:creationId xmlns:a16="http://schemas.microsoft.com/office/drawing/2014/main" id="{2D670A1B-EEA0-3497-D48F-12B38B4397C1}"/>
              </a:ext>
            </a:extLst>
          </p:cNvPr>
          <p:cNvSpPr/>
          <p:nvPr/>
        </p:nvSpPr>
        <p:spPr>
          <a:xfrm rot="10800000">
            <a:off x="6915830" y="3099816"/>
            <a:ext cx="1005693" cy="884144"/>
          </a:xfrm>
          <a:prstGeom prst="bentArrow">
            <a:avLst>
              <a:gd name="adj1" fmla="val 13680"/>
              <a:gd name="adj2" fmla="val 20871"/>
              <a:gd name="adj3" fmla="val 20884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5" name="Freccia curva 24">
            <a:extLst>
              <a:ext uri="{FF2B5EF4-FFF2-40B4-BE49-F238E27FC236}">
                <a16:creationId xmlns:a16="http://schemas.microsoft.com/office/drawing/2014/main" id="{C02DD6E2-A889-DBCF-7205-D0BBC14521DC}"/>
              </a:ext>
            </a:extLst>
          </p:cNvPr>
          <p:cNvSpPr/>
          <p:nvPr/>
        </p:nvSpPr>
        <p:spPr>
          <a:xfrm rot="16200000">
            <a:off x="4758122" y="2957331"/>
            <a:ext cx="743847" cy="1011253"/>
          </a:xfrm>
          <a:prstGeom prst="bentArrow">
            <a:avLst>
              <a:gd name="adj1" fmla="val 15738"/>
              <a:gd name="adj2" fmla="val 17507"/>
              <a:gd name="adj3" fmla="val 22719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6" name="Freccia curva 25">
            <a:extLst>
              <a:ext uri="{FF2B5EF4-FFF2-40B4-BE49-F238E27FC236}">
                <a16:creationId xmlns:a16="http://schemas.microsoft.com/office/drawing/2014/main" id="{5C57DA58-54F3-7C36-352F-5112EAFE43E4}"/>
              </a:ext>
            </a:extLst>
          </p:cNvPr>
          <p:cNvSpPr/>
          <p:nvPr/>
        </p:nvSpPr>
        <p:spPr>
          <a:xfrm>
            <a:off x="4720170" y="1369325"/>
            <a:ext cx="915502" cy="998971"/>
          </a:xfrm>
          <a:prstGeom prst="bentArrow">
            <a:avLst>
              <a:gd name="adj1" fmla="val 13750"/>
              <a:gd name="adj2" fmla="val 20871"/>
              <a:gd name="adj3" fmla="val 20884"/>
              <a:gd name="adj4" fmla="val 437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Errori nei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501708"/>
            <a:ext cx="3865865" cy="2328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sempre input: query vuota, top_k fuori range, ID malformato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try/except: mai propagare eccezioni al loop dell'agent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Ritornare errori LEGGIBILI: il LLM interpreta il testo, non lo stack trace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riprovare con args diversi / rispondere parzialmente / chiedere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Loggare ogni chiamata: nome tool, input, output, durata, errore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4315968"/>
            <a:ext cx="41605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3159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N retry falliti: return 'Non è possibile completare [azione]. 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[err]. Suggerisco: [alternativa].'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search_kb(query: str, top_k: int = 3)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"""Cerca KB aziendale. Usa per policy, SLA."""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Valida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query or not query.strip():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'Errore: query non puo essere vuota'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(1 &lt;= top_k &lt;= 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f'Errore: top_k deve essere 1-10'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Esegui con try/except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 = retrieve(query.strip(), top_k)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format_results(res) if res else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f'Nessun risultato per: {query}'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TimeoutError: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'Timeout — riprova con query piu breve'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f'Errore [{type(e).__name__}]: {e}'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Il Problema che Risolve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507850"/>
            <a:ext cx="416052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50785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Manuale - Problemi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946762"/>
            <a:ext cx="4160520" cy="184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da debuggare: dove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fermato e perche?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checkpoint: un crash perde tutto lo stato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logic: if/elif annidati non scalano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Multi-user: lo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globale, si mischiano le sessioni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impossibile: non so dove iniettare l'input umano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complicato: impossibile ripartire da un punto intermedio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53128" y="1507850"/>
            <a:ext cx="4489704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44568" y="1507850"/>
            <a:ext cx="4306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- Soluzioni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53128" y="1946762"/>
            <a:ext cx="4489704" cy="184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espliciti: sai sempre quale nodo e in esecuzione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automatici: resume da qualsiasi punto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edges: branching dichiarativo e leggibile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ID: stato isolato per sessione/utente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interrupt(): pausa controllata per input umano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Replay: riesegui da un checkpoint per test/debug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= state machine dichiarativa per agent: un grafo orientato con stato condiviso.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vs Loop Manuale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416052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manuale (fragile)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353312"/>
            <a:ext cx="4160520" cy="3017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92608" y="1726670"/>
            <a:ext cx="3977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run_agent(query, max_iter=10):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[system_msg, HumanMessage(query)]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range(max_iter):  # nessun checkpoint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ai_msg = llm.invoke(messages)  # dove siamo?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ai_msg.tool_calls: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ai_msg.content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branching non strutturato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tc in ai_msg.tool_calls: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tc['name'] == 'risky_op':  # if/elif...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pass  # e l'approvazione umana?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 = TOOL_MAP[tc['name']](tc['args'])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messages.append(ToolMessage(res, tc['id']))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'max iterations'  # lo stato e perso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3128" y="1005840"/>
            <a:ext cx="4489704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44568" y="100584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(strutturato)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1353312"/>
            <a:ext cx="4489704" cy="3017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44568" y="1726670"/>
            <a:ext cx="4306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graph.add_node('llm',   llm_node)      # nodo chiaro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graph.add_node('tools', tool_executor) # </a:t>
            </a:r>
            <a:r>
              <a:rPr lang="en-US" sz="95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responsabilita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singola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graph.add_node('human', human_review)  # HITL esplicito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'llm', router,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{'tools': 'tools', 'human': 'human', END: END}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branching dichiarativo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graph.add_edge('tools', 'llm')  # loop 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graph.add_edge('human', 'tools')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Checkpoint: resume da qualsiasi punto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graph.compile(checkpointer=SqliteSaver(conn))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app.invoke(state, config)  # thread isolato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= funzioni pure. Archi = transizioni esplicite. Stato = unica fonte di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verità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condivisa.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Concetti Chiave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06870" y="2308883"/>
            <a:ext cx="1371600" cy="6400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06870" y="2308883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4230" y="2308883"/>
            <a:ext cx="1554480" cy="6400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344230" y="2308883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6298" y="2308883"/>
            <a:ext cx="1554480" cy="6400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76298" y="2308883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7803" y="1426669"/>
            <a:ext cx="155448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077803" y="1426669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3270" y="3223283"/>
            <a:ext cx="155448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093270" y="3223283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3131" y="2071139"/>
            <a:ext cx="530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tool_call?</a:t>
            </a:r>
            <a:endParaRPr lang="en-US" sz="900" b="1" dirty="0"/>
          </a:p>
        </p:txBody>
      </p:sp>
      <p:sp>
        <p:nvSpPr>
          <p:cNvPr id="20" name="Text 18"/>
          <p:cNvSpPr/>
          <p:nvPr/>
        </p:nvSpPr>
        <p:spPr>
          <a:xfrm>
            <a:off x="5544630" y="2903243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900" b="1" dirty="0"/>
          </a:p>
        </p:txBody>
      </p:sp>
      <p:sp>
        <p:nvSpPr>
          <p:cNvPr id="25" name="Text 23"/>
          <p:cNvSpPr/>
          <p:nvPr/>
        </p:nvSpPr>
        <p:spPr>
          <a:xfrm>
            <a:off x="4849504" y="11883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loop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3950208"/>
            <a:ext cx="868680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3977640"/>
            <a:ext cx="8503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graph.add_node('llm', llm_node)  |  graph.add_node('tools', tool_node)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graph.add_conditional_edges('llm', router, {'tool_call':'tools', END: END})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graph.add_edge('tools', 'llm')  # loop back  |  app = graph.compile()</a:t>
            </a:r>
            <a:endParaRPr lang="en-US" sz="950" dirty="0"/>
          </a:p>
        </p:txBody>
      </p:sp>
      <p:sp>
        <p:nvSpPr>
          <p:cNvPr id="30" name="Freccia a destra 29">
            <a:extLst>
              <a:ext uri="{FF2B5EF4-FFF2-40B4-BE49-F238E27FC236}">
                <a16:creationId xmlns:a16="http://schemas.microsoft.com/office/drawing/2014/main" id="{45DF5760-5551-4890-1772-369F7E6DCDDC}"/>
              </a:ext>
            </a:extLst>
          </p:cNvPr>
          <p:cNvSpPr/>
          <p:nvPr/>
        </p:nvSpPr>
        <p:spPr>
          <a:xfrm>
            <a:off x="1978470" y="2528703"/>
            <a:ext cx="365760" cy="200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a destra 30">
            <a:extLst>
              <a:ext uri="{FF2B5EF4-FFF2-40B4-BE49-F238E27FC236}">
                <a16:creationId xmlns:a16="http://schemas.microsoft.com/office/drawing/2014/main" id="{C9050561-A4E0-5980-4354-DD78000AD2C3}"/>
              </a:ext>
            </a:extLst>
          </p:cNvPr>
          <p:cNvSpPr/>
          <p:nvPr/>
        </p:nvSpPr>
        <p:spPr>
          <a:xfrm>
            <a:off x="3904624" y="2528339"/>
            <a:ext cx="365760" cy="200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Freccia angolare in su 31">
            <a:extLst>
              <a:ext uri="{FF2B5EF4-FFF2-40B4-BE49-F238E27FC236}">
                <a16:creationId xmlns:a16="http://schemas.microsoft.com/office/drawing/2014/main" id="{1F77FF39-31D4-591F-0062-5F8026EC423C}"/>
              </a:ext>
            </a:extLst>
          </p:cNvPr>
          <p:cNvSpPr/>
          <p:nvPr/>
        </p:nvSpPr>
        <p:spPr>
          <a:xfrm rot="5400000">
            <a:off x="5275108" y="2630039"/>
            <a:ext cx="499238" cy="1137086"/>
          </a:xfrm>
          <a:prstGeom prst="bentUpArrow">
            <a:avLst>
              <a:gd name="adj1" fmla="val 15050"/>
              <a:gd name="adj2" fmla="val 17537"/>
              <a:gd name="adj3" fmla="val 17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Freccia angolare in su 32">
            <a:extLst>
              <a:ext uri="{FF2B5EF4-FFF2-40B4-BE49-F238E27FC236}">
                <a16:creationId xmlns:a16="http://schemas.microsoft.com/office/drawing/2014/main" id="{87DAC17E-3EBD-EAD8-4168-9B5DE72E6983}"/>
              </a:ext>
            </a:extLst>
          </p:cNvPr>
          <p:cNvSpPr/>
          <p:nvPr/>
        </p:nvSpPr>
        <p:spPr>
          <a:xfrm rot="5400000" flipH="1">
            <a:off x="5253726" y="1496497"/>
            <a:ext cx="499238" cy="1137086"/>
          </a:xfrm>
          <a:prstGeom prst="bentUpArrow">
            <a:avLst>
              <a:gd name="adj1" fmla="val 15050"/>
              <a:gd name="adj2" fmla="val 17537"/>
              <a:gd name="adj3" fmla="val 17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reccia angolare in su 33">
            <a:extLst>
              <a:ext uri="{FF2B5EF4-FFF2-40B4-BE49-F238E27FC236}">
                <a16:creationId xmlns:a16="http://schemas.microsoft.com/office/drawing/2014/main" id="{2F191201-932A-68B9-F54F-C8E70585DC13}"/>
              </a:ext>
            </a:extLst>
          </p:cNvPr>
          <p:cNvSpPr/>
          <p:nvPr/>
        </p:nvSpPr>
        <p:spPr>
          <a:xfrm flipH="1" flipV="1">
            <a:off x="3061461" y="1475552"/>
            <a:ext cx="3010425" cy="839107"/>
          </a:xfrm>
          <a:prstGeom prst="bentUpArrow">
            <a:avLst>
              <a:gd name="adj1" fmla="val 10713"/>
              <a:gd name="adj2" fmla="val 13742"/>
              <a:gd name="adj3" fmla="val 123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Condiviso: AgentState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75913" y="1271403"/>
            <a:ext cx="3392742" cy="229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TypedDict: schema esplicito — ogni campo ha tipo e significato preciso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Annotated[list, add_messages]: append automatico (non sovrascrittura!)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nodo riceve una copia dello stato e ritorna un dict di aggiornamenti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fa il merge: solo le chiavi restituite vengono aggiornate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thread_id: ogni conversazione ha il suo stato isolato (multi-user safe)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4041648"/>
            <a:ext cx="4160520" cy="8046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04164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nodi non modificano lo stato direttamente: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ritornano {chiave: valore} e LangGraph applica il merge.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198455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Annotated, Optional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langgraph.graph.message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add_messages: append auto, non sovrascrive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Note interne — non vanno nel contesto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scratchpad: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Output prodotti dal processo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Tool call in attesa di esecuzione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tool_call: Optional[dict]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Risposta finale (segnale di stop)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final_answer: Optional[str]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Per Human-in-the-Loop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risk_level: str  # 'low' | 'medium' | 'high'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Scratchpad: Memoria di Lavoro dell'Agent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46888" y="1550295"/>
            <a:ext cx="369276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 da messages: non viene inviato direttamente all'LLM come contesto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Accumulazione: ogni tool call aggiunge una riga con input, output, timestamp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iniettato nel system prompt del turno successivo per dare contesto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la prima cosa da leggere per capire cosa ha fatto l'agent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da messages: messages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chat formale; scratchpad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diario interno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4343400"/>
            <a:ext cx="4160520" cy="566928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3434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limita lo scratchpad a 1000 chars. Tieni solo le note piu recenti per non saturare il context window.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175709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Nel tool_executor_node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tool_executor_node(state: AgentState):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state['tool_call']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TOOL_MAP[tc['name']].invoke(tc['args'])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Aggiorna scratchpad con nota sintetica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 = f"[{tc['name']}({tc['args']})] -&gt; {str(result)[:80]}"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new_pad = state.get('scratchpad', '') + '\n' + note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'messages': [ToolMessage(str(result), tc['id'])],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'scratchpad': new_pad[-1000:],  # trim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'tool_call': None,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Nel llm_node: inietta scratchpad nel system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build_prompt(state):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'Sei un agente ITSM. Usa i tool.'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state['scratchpad']: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base + f"\nNote: {state['scratchpad']}"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LLM: Implementazione Completa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559052"/>
            <a:ext cx="3829471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AgentState e ritorna un dict di aggiornamenti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rispetta MIN_SECONDS_BETWEEN_MODEL_CALLS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Inietta scratchpad nel system prompt per dare contesto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 tool_call (se presente) per il Router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 final_answer se il LLM risponde senza tool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nodo LLM NON decide cosa fare dopo: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e compito del Router.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delle responsabilita = codice testabile.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time, 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LAST_CALL = [0.0]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MIN_GAP = float(os.getenv('MIN_SECONDS_BETWEEN_MODEL_CALLS', '15'))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llm_node(state: AgentState) -&gt; AgentState: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Rate limiting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 = MIN_GAP - (time.time() - LAST_CALL[0])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wait &gt; 0: time.sleep(wait)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Prepara messaggi con scratchpad nel system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build_prompt(state)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 = [('system', system)] + list(state['messages'])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ai_msg = llm_with_tools.invoke(msgs)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LAST_CALL[0] = time.time()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Estrai tool_call o final_answer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tcs = getattr(ai_msg, 'tool_calls', None) or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{'name': tcs[0]['name'],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'args': tcs[0]['args'],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'id':   tcs[0]['id']} if tcs else None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'messages':     [ai_msg],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'tool_call':    tc,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'final_answer': ai_msg.content if not tc else 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Tool: Implementazione Completa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92024" y="1692777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tool_call dallo stato: {name, args, id}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dinamico nel TOOL_MAP: nessun if/elif per ogni tool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non trovato: ritorna messaggio di errore leggibile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Eccezione nel tool: cattura e ritorna errore, MAI propagare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scratchpad con nota sintetica del risultato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F59E0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il Tool Node, il flusso torna sempre al LLM Node.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valuta il risultato e decide il passo successivo.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244721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tool_executor_node(state: AgentState) -&gt; AgentState: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state.get('tool_call')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state  # nessun tool da eseguire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Lookup dinamico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tc['name'] not in TOOL_MAP: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= (f"Tool '{tc['name']}' non trovato. 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f"Disponibili: {list(TOOL_MAP)}")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obs = ToolMessage(error, tool_call_id=tc['id'])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{'messages': [obs], 'tool_call': None}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Esecuzione protetta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TOOL_MAP[tc['name']].invoke(tc['args'])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f'Errore in {tc["name"]}: {type(e).__name__}: {e}'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 = ToolMessage(str(result), tool_call_id=tc['id'])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 = f"[{tc['name']}] -&gt; {str(result)[:80]}"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'messages':   [obs],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'scratchpad': state.get('scratchpad','') + '\n' + note,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'tool_call':  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Node: Logica di Routing Condizionale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499616"/>
            <a:ext cx="37475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pura: riceve state, ritorna stringa (nome prossimo nodo)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Registrata con add_conditional_edges: non e un nodo ma una funzione di routing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final_answer -&gt; END  |  high risk -&gt; human_review  |  tool_call -&gt; tool_executor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sicuro: se nessuna condizione, ritorna END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NON modifica lo stato: zero side-effect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7C3AED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Conditional Edge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cuore del grafo: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quale nodo attivare in base allo stato corrente.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409851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HIGH_RISK = {'compute_sla_tool', 'delete_record_tool'}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router_node(state: AgentState)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Risposta finale pronta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state.get('final_answer'):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state.get('tool_call')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END  # fallback sicuro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Tool ad alto rischio -&gt; human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tc['name'] in HIGH_RISK: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'human_review'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Tool normale -&gt; esecuzione diretta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'tool_executor'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Registrazione nel grafo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'llm',           # sorgente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router_node,     # funzione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{'human_review': 'human_review',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'tool_executor': 'tool_executor',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END: END}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con SQLite: Persistenza e Ripresa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42111" y="1412748"/>
            <a:ext cx="388406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SqliteSaver: salva lo stato del grafo su disco dopo ogni nodo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thread_id: chiave di isolamento per sessioni utente multiple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Ripresa: app.invoke(None, config) riprende da dove era fermo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Ispezione: app.get_state(config) legge lo stato corrente senza eseguire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Produzione: usa AsyncPostgresSaver per alta disponibilita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checkpoint: ogni run ricomincia da zero.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checkpoint: Human-in-the-Loop diventa possibile.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langgraph.checkpoint.sqlite import SqliteSaver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 o apri il database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SqliteSaver.from_conn_string('checkpoints.db')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Compila il grafo con persistenza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Prima invocazione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{'configurable': {'thread_id': 'user-42'}}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app.invoke({'messages': [...]}, cfg)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Ripresa dopo interruzione (es. dopo HITL)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app.invoke(None, cfg)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Ispezione stato salvato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 = app.get_state(cfg)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print(snap.values['final_answer'])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print(snap.next)  # prossimo nodo pianificato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BaseModel: Validazione Dichiarativa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28630" y="1319740"/>
            <a:ext cx="3551966" cy="2224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BaseModel: classe Python che dichiara schema e vincoli come attributi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Field(): metadati ricchi (ge, le, min_length, description, alias)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@field_validator: validazione custom a livello campo o cross-field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immediato: ValidationError al momento della costruzione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model_dump_json(): serializzazione JSON type-safe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10-50x piu veloce di v1.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sempre pydantic per i contratti tra nodi agentici.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41010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Field, field_validator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TicketInput(BaseModel):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record_id: str = Field(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min_length=8, max_length=12,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description='Formato INC-XXXX',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pattern=r'^INC-\d{4}$'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Literal['P1', 'P2', 'P3']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elapsed_hours: float = Field(ge=0, le=720)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@field_validator('record_id')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normalize_id(cls, v: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v.strip().upper()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SLAResult(BaseModel):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Literal['ok', 'near_breach', 'violated']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remaining_hours: float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recommendation: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TicketInput(record_id='INC-1002', priority='P1', elapsed_hours=1)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print(t.model_dump_json())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LLM con Schema Forzato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1287894"/>
            <a:ext cx="373361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with_structured_output(): forza il modello a rispondere con uno schema Pydantic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usa function calling internamente per produrre JSON strutturato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 direttamente un oggetto Python validato (non una stringa)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ideale: classificazione, estrazione dati, routing semantico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da tool: structured output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risposta finale, non un'azione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usare structured output per ogni chiamata: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piu lento. Usalo dove servono garanzie di tipo.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288576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langchain_google_genai import ChatGoogleGenerativeAI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ITSMAnalysis(BaseModel):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intent: Literal['lookup', 'sla_check', 'kb_search', 'other']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urgency: Literal['high', 'medium', 'low']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ticket_id: str | None = None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ChatGoogleGenerativeAI(model='gemini-2.5-flash')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structured_llm = llm.with_structured_output(ITSMAnalysis)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Ritorna direttamente un oggetto ITSMAnalysis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structured_llm.invoke(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'Controlla il ticket INC-1002 e calcola lo SLA'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print(result.intent)   # 'lookup'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print(result.urgency)  # 'high'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print(result.ticket_id)  # 'INC-1002'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Pydantic nei Tool: Input &amp;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01335" y="1369780"/>
            <a:ext cx="3596822" cy="226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input prima di eseguire: previene errori a runtime nel codice del tool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output prima di restituire: garantisce contratto verso il LLM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ValidationError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errore di contratto, non di business: logga e restituisci errore leggibile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LLM capisce errori in linguaggio naturale meglio di stack trace Python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usa .model_dump() per serializzare l'output al LLM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input + schema in output = tool documentato e testabile.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Field, ValidationError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SearchInput(BaseModel):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 = Field(min_length=3)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top_k: int = Field(default=3, ge=1, le=10)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SearchOutput(BaseModel):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success: bool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results: list[dict]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str | None = None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search_kb_tool(query: str, top_k: int = 3)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 = SearchInput(query=query, top_k=top_k)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ValidationError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 = SearchOutput(success=False,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error=f'Input non valido: {e.errors()[0]["msg"]}')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err.model_dump_json()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logica tool...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SearchOutput(success=True, results=[...])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out.model_dump_json()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ValidationError: Pattern Pratici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4225" y="2619927"/>
            <a:ext cx="1491018" cy="1097280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778233" y="263821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string_too_short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78233" y="2930823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min 3 chars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Ricevuto: 'ok' (len=2)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17637" y="1358055"/>
            <a:ext cx="1487606" cy="1097280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781645" y="137634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value_error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81645" y="1668951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P1|P2|P3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Ricevuto: 'critical'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7" y="1019556"/>
            <a:ext cx="5239739" cy="344271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37327" y="1166031"/>
            <a:ext cx="4734317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ValidationError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safe_validate(model_cls, **kwargs) -&gt; tuple[Any, str | None]: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model_cls(**kwargs),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ValidationError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Formatta per il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err in e.errors():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field = '.'.join(str(x) for x in err['loc'])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msgs.append(f"{field}: {err['msg']}")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None, '; '.join(msgs)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Nel 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inp, err = safe_validate(TicketInput,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record_id='inc-1002',   # caso: lowercase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priority='P4',           # caso: valore invalido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elapsed_hours=-1         # caso: negativo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err: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json.dumps({'success': False, 'error': err})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ValidationError -&gt; messaggio leggibile per LLM | Exception generica -&gt; log + errore generico</a:t>
            </a:r>
            <a:endParaRPr lang="en-US" sz="11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A1E318E-76A1-C561-65CA-12A3CA5E45CC}"/>
              </a:ext>
            </a:extLst>
          </p:cNvPr>
          <p:cNvSpPr/>
          <p:nvPr/>
        </p:nvSpPr>
        <p:spPr>
          <a:xfrm>
            <a:off x="7386896" y="1358055"/>
            <a:ext cx="1487606" cy="1097280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464870" y="1686897"/>
            <a:ext cx="133165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campo obbligatorio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mancante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64870" y="137209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endParaRPr lang="en-US" sz="95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556563E-9E10-801C-FF95-2166521A5ACC}"/>
              </a:ext>
            </a:extLst>
          </p:cNvPr>
          <p:cNvSpPr/>
          <p:nvPr/>
        </p:nvSpPr>
        <p:spPr>
          <a:xfrm>
            <a:off x="7386896" y="2619927"/>
            <a:ext cx="1491018" cy="1097280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464870" y="258845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less_than_equal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64870" y="2881065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top_k: max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Ricevuto: 50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(HITL): Approvazione Prima di Agire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369780"/>
            <a:ext cx="3702092" cy="225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l'agent si FERMA prima di un'azione critica e aspetta input umano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interrupt(): salva checkpoint e sospende l'esecuzione del grafo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riceve: nome tool, argomenti, contesto agente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azioni: approve (prosegui), reject (termina), modify (cambia args)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Ripresa: app.invoke(None, config, resume={'action': 'approve'}) continua da dove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era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fermato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F59E0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obbligatorio per: invio email, modifica dati, pagamenti, azioni irreversibili.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langgraph.types import interrupt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human_review_node(state: AgentState) -&gt; AgentState: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state['tool_call']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Si ferma qui e aspetta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decision = interrupt({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'tool': tc['name'],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'args': tc['args'],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'prompt': 'Approva/Rifiuta/Modifica'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decision.get('action', 'reject')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'reject':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{'final_answer': 'Operazione rifiutata dall\'operatore'}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'modify':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{'tool_call': {**tc, 'args': decision['args']}}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  # approve: procedi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Ripresa (chiamata dalla UI)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{'configurable': {'thread_id': 'user-42'}}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cfg, resume={'action': 'approve'})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Human-on-the-Loop (HoTL): Supervisione Asincrona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1242401"/>
            <a:ext cx="384321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l'agent agisce, poi notifica un operatore per revisione post-hoc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NON blocca l'esecuzione: riceve notifica mentre l'agent continua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monitoring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audit, intervento su anomalie rilevate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ad alto rischio: eseguiti ma immediatamente loggati e notificati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se nessuno interviene entro X minuti, l'azione e confermata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0891B2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 bilancia autonomia e controllo.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 per volume alto di operazioni a rischio moderato.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notify_operator(tool_name, args, result):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Fire-and-forget: non blocca l'agent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_send():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payload = {'tool': tool_name, 'args': args,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'result': result, 'ts': datetime.now().isoformat()}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Slack / PagerDuty / webhook...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requests.post(WEBHOOK_URL, json=payload, timeout=5)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threading.Thread(target=_send, daemon=True).start()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tool_executor_node(state: AgentState) -&gt; AgentState: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state['tool_call']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TOOL_MAP[tc['name']].invoke(tc['args'])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state.get('risk_level') in ('medium', 'high'):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notify_operator(tc['name'], tc['args'], result)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log_action(tc, result, state['thread_id'])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 = ToolMessage(str(result), tool_call_id=tc['id'])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{'messages': [obs], 'tool_call': None}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Human-out-of-the-Loop (HooTL): Piena Autonomia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23595" y="1537022"/>
            <a:ext cx="3856493" cy="206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l'agent esegue senza alcun intervento umano nel loop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Applicabile quando: operazioni a basso rischio, ben definite, facilmente reversibili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essenziale: audit log, rate limiting, alert su anomalie, circuit breaker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obbligatorio: protezione contro loop infiniti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automatico: ogni azione deve avere una contromisura pianificata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64748B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HooTL NON significa nessuna responsabilita umana.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Significa: governance preventiva invece di intervento reattivo.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Router senza ramo human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router_node(state: AgentState)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state.get('final_answer'):  return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state.get('tool_call'):     return 'tool_executor'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Governance obbligatoria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AgentGovernance: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MAX_TOOL_CALLS = 20  # circuit breaker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ALERT_THRESHOLD = 5  # errori consecutivi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check(self, state: AgentState) -&gt;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len([m for m in state['messages']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if isinstance(m, ToolMessage)])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 &gt; self.MAX_TOOL_CALLS: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RuntimeError('Circuit breaker: troppe tool call')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Audit log strutturato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log_action(tc, result, thread_id):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print(json.dumps({'ts': datetime.now().isoformat(),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'thread': thread_id, 'tool': tc['name'],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'args': tc['args'], 'ok': 'error' not in str(result)}))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con Policy di Rischio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8869" y="1499616"/>
            <a:ext cx="3856857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TOOL_RISK: dizionario statico che mappa nome-tool -&gt; livello rischio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legge risk_level dallo stato (settato nel log_node)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-&gt; human_review (HITL) | medium -&gt; tool_executor + notify (HoTL) | low -&gt; tool_executor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un tool ad alto rischio: basta un'entry nel dizionario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grafo non cambia: solo la policy di routing cambia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3913632"/>
            <a:ext cx="4160520" cy="960120"/>
          </a:xfrm>
          <a:prstGeom prst="rect">
            <a:avLst/>
          </a:prstGeom>
          <a:solidFill>
            <a:srgbClr val="7C3AED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391363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policy (TOOL_RISK) da logica (router):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 la policy puo essere cambiata senza toccare il codice.</a:t>
            </a:r>
            <a:endParaRPr lang="en-US" sz="11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67451" y="1193906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TOOL_RISK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'search_kb_tool':     'low',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'lookup_record_tool': 'low',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'compute_sla_tool':   'high',  # modifica stato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'send_email_tool':    'high',  # azione esterna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'update_ticket_tool': 'medium',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router_node(state: AgentState)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state.get('final_answer'):  return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 = state.get('tool_call')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tc:                     return 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 = TOOL_RISK.get(tc['name'], 'low')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risk == 'high':    return 'human_review'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risk == 'medium':  return 'tool_executor'  # + notify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'tool_executor'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graph.add_conditional_edges('llm', router_node,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{'human_review':   'human_review',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'tool_executor':  'tool_executor',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END: END})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Mattina: Agent Loop Reale con Gemini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ITSM — file: </a:t>
            </a:r>
            <a:r>
              <a:rPr lang="en-US" sz="13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itsm_agent.py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8686800" cy="8046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" y="1380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search_kb(query, top_k)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73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Knowledge Base: tokenizza, calcola score, ritorna top-K documenti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2240280"/>
            <a:ext cx="8686800" cy="8046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0040" y="2295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lookup_record(record_id)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5877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ticket: normalizza ID, valida formato INC-XXXX, ritorna dati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3154680"/>
            <a:ext cx="8686800" cy="8046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0040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compute_sla(ticket)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502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P1=0.5h, P2=4h, P3=24h. Calcola remaining, status, recommendation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reale: Gemini riceve tool schema, chiama tool, riceve observation, produce risposta finale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Mattina: 5 TODO CORE da Implementare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75488" cy="475488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987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98755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query, tokenizza, score per ogni doc in SAMPLE_DOCS, ordina, ritorna {success, results, error}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475488" cy="475488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1168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1755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lookup_record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75564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 (trim+upper), valida INC-XXXX, leggi SAMPLE_RECORDS, aggiungi urgency note per P1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523744"/>
            <a:ext cx="475488" cy="475488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01168" y="2523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compute_sla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52374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P1=0.5h P2=4h P3=24h. Calcola remaining_hours, status (ok/near_breach/violated), recommendation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201168" y="3291840"/>
            <a:ext cx="475488" cy="475488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32918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extract_text_content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robusto: stringa semplice | lista blocchi con 'text' | fallback stringa vuota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059936"/>
            <a:ext cx="475488" cy="475488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01168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" y="40599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loop (STRETCH)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40599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 tool_calls e testo vuoto: inserisci turno recovery per ottenere final answer</a:t>
            </a:r>
            <a:endParaRPr lang="en-US" sz="1100" b="1" dirty="0"/>
          </a:p>
        </p:txBody>
      </p:sp>
      <p:sp>
        <p:nvSpPr>
          <p:cNvPr id="25" name="Shape 23"/>
          <p:cNvSpPr/>
          <p:nvPr/>
        </p:nvSpPr>
        <p:spPr>
          <a:xfrm>
            <a:off x="201168" y="4668012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92608" y="46680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atteso: trace con STEP 1 LLM + TOOL lookup_record + TOOL compute_sla + risposta finale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097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day2_agents/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itsm_agent.py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setup-rag-data --ingest</a:t>
            </a:r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(cancellate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chroma_db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dell’ingest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ITSM 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l’indice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con Chroma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556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python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day2_agents/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itsm_agent.py</a:t>
            </a: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it-IT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examples</a:t>
            </a:r>
            <a:b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</a:br>
            <a:r>
              <a:rPr lang="it-IT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→ </a:t>
            </a:r>
            <a:r>
              <a:rPr lang="it-IT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mostra gli scenari di test disponibili e il flusso atteso per ciascuno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1168" y="241401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682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python day2_agents/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itsm_agent.py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manual "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Mostrami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INC-1002 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calcola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lo SLA."</a:t>
            </a:r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esegue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il loop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agentico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manuale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: record ticket 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calcolo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SLA 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risposta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finale</a:t>
            </a:r>
          </a:p>
        </p:txBody>
      </p:sp>
      <p:sp>
        <p:nvSpPr>
          <p:cNvPr id="14" name="Shape 12"/>
          <p:cNvSpPr/>
          <p:nvPr/>
        </p:nvSpPr>
        <p:spPr>
          <a:xfrm>
            <a:off x="201168" y="30723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266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day2_agents/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itsm_agent.py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 "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INC-1002,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SLA e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proponi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l'azione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--auto-decision approve</a:t>
            </a:r>
            <a:b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esegue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il workflow 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grafo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con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approvazione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automatica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dell’azione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proposta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1168" y="3730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85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python day2_agents/</a:t>
            </a:r>
            <a:r>
              <a:rPr lang="en-US" sz="1300" b="1" dirty="0" err="1"/>
              <a:t>itsm_agent.py</a:t>
            </a:r>
            <a:r>
              <a:rPr lang="en-US" sz="1300" b="1" dirty="0"/>
              <a:t> graph "</a:t>
            </a:r>
            <a:r>
              <a:rPr lang="en-US" sz="1300" b="1" dirty="0" err="1"/>
              <a:t>Mostrami</a:t>
            </a:r>
            <a:r>
              <a:rPr lang="en-US" sz="1300" b="1" dirty="0"/>
              <a:t> INC-1002, </a:t>
            </a:r>
            <a:r>
              <a:rPr lang="en-US" sz="1300" b="1" dirty="0" err="1"/>
              <a:t>calcola</a:t>
            </a:r>
            <a:r>
              <a:rPr lang="en-US" sz="1300" b="1" dirty="0"/>
              <a:t> lo SLA e </a:t>
            </a:r>
            <a:r>
              <a:rPr lang="en-US" sz="1300" b="1" dirty="0" err="1"/>
              <a:t>proponi</a:t>
            </a:r>
            <a:r>
              <a:rPr lang="en-US" sz="1300" b="1" dirty="0"/>
              <a:t> </a:t>
            </a:r>
            <a:r>
              <a:rPr lang="en-US" sz="1300" b="1" dirty="0" err="1"/>
              <a:t>l'azione</a:t>
            </a:r>
            <a:r>
              <a:rPr lang="en-US" sz="1300" b="1" dirty="0"/>
              <a:t>." --auto-decision reject</a:t>
            </a:r>
            <a:br>
              <a:rPr lang="en-US" sz="1300" b="1" dirty="0"/>
            </a:br>
            <a:r>
              <a:rPr lang="en-US" sz="1300" b="1" dirty="0"/>
              <a:t>→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mostra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il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ramo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alternativo: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l’azione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critica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viene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proposta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ma non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eseguita</a:t>
            </a:r>
            <a:endParaRPr lang="en-US" sz="13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01168" y="4526280"/>
            <a:ext cx="86868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funzionante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938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Comuni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Lab: Diagnosi e Fix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160520" cy="621792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241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search_kb ritorna tutti risultati con score=0</a:t>
            </a:r>
            <a:endParaRPr lang="en-US" sz="1050" b="1" dirty="0"/>
          </a:p>
        </p:txBody>
      </p:sp>
      <p:sp>
        <p:nvSpPr>
          <p:cNvPr id="7" name="Shape 5"/>
          <p:cNvSpPr/>
          <p:nvPr/>
        </p:nvSpPr>
        <p:spPr>
          <a:xfrm>
            <a:off x="4453128" y="987552"/>
            <a:ext cx="4434840" cy="621792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44568" y="10241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Tokenizza anche i documenti: split su spazi/punteggiatura prima del match</a:t>
            </a:r>
            <a:endParaRPr lang="en-US" sz="1050" b="1" dirty="0"/>
          </a:p>
        </p:txBody>
      </p:sp>
      <p:sp>
        <p:nvSpPr>
          <p:cNvPr id="9" name="Shape 7"/>
          <p:cNvSpPr/>
          <p:nvPr/>
        </p:nvSpPr>
        <p:spPr>
          <a:xfrm>
            <a:off x="201168" y="1700784"/>
            <a:ext cx="4160520" cy="621792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92608" y="1737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lookup_record non trova 'inc-1002'</a:t>
            </a:r>
            <a:endParaRPr lang="en-US" sz="1050" b="1" dirty="0"/>
          </a:p>
        </p:txBody>
      </p:sp>
      <p:sp>
        <p:nvSpPr>
          <p:cNvPr id="11" name="Shape 9"/>
          <p:cNvSpPr/>
          <p:nvPr/>
        </p:nvSpPr>
        <p:spPr>
          <a:xfrm>
            <a:off x="4453128" y="1700784"/>
            <a:ext cx="4434840" cy="621792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44568" y="17373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Normalizza: record_id.strip().upper() prima del lookup in SAMPLE_RECORDS</a:t>
            </a:r>
            <a:endParaRPr lang="en-US" sz="105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414016"/>
            <a:ext cx="4160520" cy="621792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2608" y="2450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compute_sla: status sempre 'ok'</a:t>
            </a:r>
            <a:endParaRPr lang="en-US" sz="1050" b="1" dirty="0"/>
          </a:p>
        </p:txBody>
      </p:sp>
      <p:sp>
        <p:nvSpPr>
          <p:cNvPr id="15" name="Shape 13"/>
          <p:cNvSpPr/>
          <p:nvPr/>
        </p:nvSpPr>
        <p:spPr>
          <a:xfrm>
            <a:off x="4453128" y="2414016"/>
            <a:ext cx="4434840" cy="621792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44568" y="24505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Controlla: P1 target=0.5h, elapsed=1h -&gt; remaining=-0.5 -&gt; 'violated'</a:t>
            </a:r>
            <a:endParaRPr lang="en-US" sz="1050" b="1" dirty="0"/>
          </a:p>
        </p:txBody>
      </p:sp>
      <p:sp>
        <p:nvSpPr>
          <p:cNvPr id="17" name="Shape 15"/>
          <p:cNvSpPr/>
          <p:nvPr/>
        </p:nvSpPr>
        <p:spPr>
          <a:xfrm>
            <a:off x="201168" y="3127248"/>
            <a:ext cx="4160520" cy="621792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92608" y="31638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extract_text_content ritorna '' su AIMessage</a:t>
            </a:r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4453128" y="3127248"/>
            <a:ext cx="4434840" cy="621792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44568" y="316382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Controlla tipo: isinstance(content, list) e cerca {'type':'text','text':...}</a:t>
            </a:r>
            <a:endParaRPr lang="en-US" sz="105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3840480"/>
            <a:ext cx="4160520" cy="621792"/>
          </a:xfrm>
          <a:prstGeom prst="rect">
            <a:avLst/>
          </a:prstGeom>
          <a:solidFill>
            <a:srgbClr val="EF4444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387705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Loop infinito: tool chiamato ma LLM non conclude</a:t>
            </a:r>
            <a:endParaRPr lang="en-US" sz="1050" b="1" dirty="0"/>
          </a:p>
        </p:txBody>
      </p:sp>
      <p:sp>
        <p:nvSpPr>
          <p:cNvPr id="23" name="Shape 21"/>
          <p:cNvSpPr/>
          <p:nvPr/>
        </p:nvSpPr>
        <p:spPr>
          <a:xfrm>
            <a:off x="4453128" y="3840480"/>
            <a:ext cx="4434840" cy="621792"/>
          </a:xfrm>
          <a:prstGeom prst="rect">
            <a:avLst/>
          </a:prstGeom>
          <a:solidFill>
            <a:srgbClr val="10B981"/>
          </a:solidFill>
          <a:ln>
            <a:solidFill>
              <a:srgbClr val="002060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44568" y="38770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Aggiungi max_iter check + recovery turn esplicito se text vuoto</a:t>
            </a:r>
            <a:endParaRPr lang="en-US" sz="1050" b="1" dirty="0"/>
          </a:p>
        </p:txBody>
      </p:sp>
      <p:sp>
        <p:nvSpPr>
          <p:cNvPr id="25" name="Shape 23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stampa le traces prima di debuggare il codice — spesso l'errore e nell'observation ricevuta dal LLM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Pomeriggio: State Graph con HITL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2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itsm_graph_didactic.py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Architettura target: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1828800" cy="804672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1168" y="1325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12848" y="1325880"/>
            <a:ext cx="1828800" cy="804672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212848" y="1325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325880"/>
            <a:ext cx="1828800" cy="804672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224528" y="1325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(Cond. Edge)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325880"/>
            <a:ext cx="1417320" cy="80467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236208" y="132588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44968" y="1325880"/>
            <a:ext cx="1234440" cy="804672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744968" y="1325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29968" y="1728216"/>
            <a:ext cx="1828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041648" y="1728216"/>
            <a:ext cx="1828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053328" y="1728216"/>
            <a:ext cx="1828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7653528" y="1728216"/>
            <a:ext cx="9144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717593" y="2432305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-&gt; LLM (loop)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2130552"/>
            <a:ext cx="0" cy="585216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065526" y="2706625"/>
            <a:ext cx="5883914" cy="9143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065526" y="2130552"/>
            <a:ext cx="0" cy="585216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201168" y="2834640"/>
            <a:ext cx="8686800" cy="16002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20040" y="2862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(TypedDict):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145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 List[Any]   |   scratchpad: str   |   tool_call: Optional[Dict]   |   final_answer: Optional[str]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3438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risk_level: str   |   thread_id: str   |   approval_required: bool   |   log_entries: List[Dict]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-&gt; Tool Executor (approve/modify) | Router -&gt; END se final_answer | SimpleStateGraph: no LangGraph installato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Pomeriggio: TODO CORE 1-4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Functions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05840"/>
            <a:ext cx="523027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search_kb, lookup_record, compute_sla con validazione input e output {success, results, error}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201168" y="1920240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116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93852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inject scratchpad nel system + estrai tool_call o final_answer dall'AIMessage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852928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01168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871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Executor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87121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 dinamica TOOL_MAP + gestione 'tool not found' + append ToolMessage + update scratchpad/artifacts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201168" y="3785616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" y="38039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Node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803904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 final_answer | human_review se high-risk | tool_executor altrimenti | END fallback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Livello: alto. Stima 2.5-3h. Inizia dai tool (TODO 1), poi nodi in ordine.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Pomeriggio: TODO CORE 5-7 + STRETCH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058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strutturato: timestamp, step, tool_name, risk_level. STRETCH: JSON line-based su file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201168" y="1920240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0116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93852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operatore: approve/reject/modify. Reject -&gt; final_answer. Modify -&gt; aggiorna args. STRETCH: timeout auto-approve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201168" y="2852928"/>
            <a:ext cx="548640" cy="5486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01168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871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87121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completo: LLM-&gt;LOG-&gt;ROUTER-&gt;(TOOL/HUMAN/END). TOOL-&gt;LLM. HUMAN-&gt;TOOL. Coerente con le slide.</a:t>
            </a:r>
            <a:endParaRPr lang="en-US" sz="1100" b="1" dirty="0"/>
          </a:p>
        </p:txBody>
      </p:sp>
      <p:sp>
        <p:nvSpPr>
          <p:cNvPr id="17" name="Shape 15"/>
          <p:cNvSpPr/>
          <p:nvPr/>
        </p:nvSpPr>
        <p:spPr>
          <a:xfrm>
            <a:off x="201168" y="3858768"/>
            <a:ext cx="8686800" cy="10058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0040" y="38953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opzionali: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1605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ramo retry su errore tool  |  Log Node: serializzazione JSONL su file  |  Human Review: timeout + auto-approve configurabile  |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policy rischio avanzata (per-tenant)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28168" y="1342484"/>
            <a:ext cx="1554480" cy="11430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73888" y="13973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3888" y="18362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lookup_record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compute_sla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74088" y="1342484"/>
            <a:ext cx="1554480" cy="11430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219808" y="13973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9808" y="18362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{name: fn}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dinamico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20008" y="1342484"/>
            <a:ext cx="1645920" cy="114300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865728" y="13973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65728" y="18362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scratchpad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57368" y="1342484"/>
            <a:ext cx="1645920" cy="11430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603088" y="13973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Rate Limit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03088" y="18362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tool_call|answer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94728" y="1342484"/>
            <a:ext cx="1417320" cy="11430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340448" y="13973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40448" y="18362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high-&gt;HITL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low-&gt;tool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8168" y="2668364"/>
            <a:ext cx="1554480" cy="114300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73888" y="27232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3888" y="31621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74088" y="2668364"/>
            <a:ext cx="1554480" cy="11430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219808" y="27232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19808" y="31621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20008" y="2668364"/>
            <a:ext cx="1645920" cy="11430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865728" y="27232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65728" y="31621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ts+tool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57368" y="2668364"/>
            <a:ext cx="1645920" cy="11430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603088" y="27232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03088" y="31621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94728" y="2668364"/>
            <a:ext cx="1417320" cy="11430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340448" y="27232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40448" y="31621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Field+validator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" y="4480560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92608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architetturale: ogni blocco e testabile isolatamente. Il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Java: Agent Gemini con HttpClient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itsm_agent.java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Architettura: ACTION -&gt; TOOL -&gt; FINAL (doppio turno)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261872"/>
            <a:ext cx="475488" cy="47548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116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271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searchKb()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271016"/>
            <a:ext cx="5062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Tokenizza query, score sui doc di SAMPLE_DOCS, ordina, ritorna Map&lt;String,Object&gt; {success, results, error}</a:t>
            </a:r>
            <a:endParaRPr lang="en-US" sz="1100" b="1" dirty="0"/>
          </a:p>
        </p:txBody>
      </p:sp>
      <p:sp>
        <p:nvSpPr>
          <p:cNvPr id="10" name="Shape 8"/>
          <p:cNvSpPr/>
          <p:nvPr/>
        </p:nvSpPr>
        <p:spPr>
          <a:xfrm>
            <a:off x="201168" y="2029968"/>
            <a:ext cx="475488" cy="47548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0116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2039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0391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 ID (trim+upper), valida INC-XXXX con regex, recupera da SAMPLE_RECORDS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201168" y="2798064"/>
            <a:ext cx="475488" cy="47548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807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computeSla()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807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P1=0.5h P2=4h P3=24h. Calcola remaining, status, recommendation. Payload coerente con teacher</a:t>
            </a:r>
            <a:endParaRPr lang="en-US" sz="1100" b="1" dirty="0"/>
          </a:p>
        </p:txBody>
      </p:sp>
      <p:sp>
        <p:nvSpPr>
          <p:cNvPr id="18" name="Shape 16"/>
          <p:cNvSpPr/>
          <p:nvPr/>
        </p:nvSpPr>
        <p:spPr>
          <a:xfrm>
            <a:off x="201168" y="3566160"/>
            <a:ext cx="475488" cy="47548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01168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3575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extractText() + runAgent()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575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minimale JSON Gemini (candidates/content/parts/text). Doppio turno: turno1-&gt;ACTION, tool, turno2-&gt;FINAL</a:t>
            </a:r>
            <a:endParaRPr lang="en-US" sz="1100" b="1" dirty="0"/>
          </a:p>
        </p:txBody>
      </p:sp>
      <p:sp>
        <p:nvSpPr>
          <p:cNvPr id="22" name="Shape 20"/>
          <p:cNvSpPr/>
          <p:nvPr/>
        </p:nvSpPr>
        <p:spPr>
          <a:xfrm>
            <a:off x="201168" y="4544568"/>
            <a:ext cx="8686800" cy="36576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92608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tecnica: il parsing JSON e volutamente minimale (didattico). In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userebbe</a:t>
            </a: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parser JSON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e Gestione del Context Window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535964"/>
            <a:ext cx="3793077" cy="24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finestra di token che il modello 'vede' in un singolo turno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Flash: 1M token. Sembrano tanti, ma un log di 100 tool call li riempie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list: cresce ad ogni turno. Oltre 50-100 messaggi: rischio context overflow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strategy: mantieni system + ultimi N messaggi + tutti i ToolMessage recenti</a:t>
            </a:r>
            <a:endParaRPr lang="en-US" sz="12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Scratchpad: alternativa efficiente ai messaggi verbosi come contesto compresso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1168" y="4315968"/>
            <a:ext cx="4160520" cy="566928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43159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pratica: se l’agente esegue molti step/tool call nella stessa sessione, valuta una strategia di </a:t>
            </a:r>
            <a:r>
              <a:rPr lang="it-IT" sz="105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</a:t>
            </a:r>
            <a:r>
              <a:rPr lang="it-IT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contesto.</a:t>
            </a:r>
            <a:endParaRPr lang="en-US" sz="105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858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90288" y="1253456"/>
            <a:ext cx="42976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trim_messages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trim_context(messages: list, max_tokens: int = 8000):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trim_messages(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max_tokens=max_tokens,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token_counter=llm,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strategy='last',      # mantieni i piu recenti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start_on='human',     # parti sempre da messaggio human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include_system=True,  # system sempre presente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Nel llm_node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llm_node(state: AgentState) -&gt; AgentState: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 = trim_context(state['messages'])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ai_msg = llm_with_tools.invoke([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('system', build_prompt(state)),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*msgs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673272" y="2985331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165273" y="-1110996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del Giorno 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05256"/>
            <a:ext cx="36576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04672" y="1024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è un ciclo decisionale: LLM decide, tool agisce, observation retroinforma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04672" y="15910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formalizza il ciclo come state machine con nodi e conditional edge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04672" y="21579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responsabilità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LLM node / Router node / Tool node sono testabili da soli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04672" y="27249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/ HoTL / HooTL: il livello di controllo umano e una scelta architetturale esplicita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04672" y="3291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+ structured output: contratti forti tra componenti = agent piu robusti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</TotalTime>
  <Words>7507</Words>
  <Application>Microsoft Macintosh PowerPoint</Application>
  <PresentationFormat>Presentazione su schermo (16:9)</PresentationFormat>
  <Paragraphs>950</Paragraphs>
  <Slides>41</Slides>
  <Notes>41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6" baseType="lpstr">
      <vt:lpstr>Aptos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2 - Da RAG ad Agent con Tool Use &amp; LangGraph</dc:title>
  <dc:subject>PptxGenJS Presentation</dc:subject>
  <dc:creator>Alessandro Marchetti</dc:creator>
  <cp:lastModifiedBy>Microsoft Office User</cp:lastModifiedBy>
  <cp:revision>14</cp:revision>
  <dcterms:created xsi:type="dcterms:W3CDTF">2026-05-11T19:10:30Z</dcterms:created>
  <dcterms:modified xsi:type="dcterms:W3CDTF">2026-05-12T23:58:11Z</dcterms:modified>
</cp:coreProperties>
</file>